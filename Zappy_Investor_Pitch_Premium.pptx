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-868680"/>
            <a:ext cx="3200400" cy="320040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77940" y="-388620"/>
            <a:ext cx="2240280" cy="2240280"/>
          </a:xfrm>
          <a:prstGeom prst="ellipse">
            <a:avLst/>
          </a:prstGeom>
          <a:solidFill>
            <a:srgbClr val="3B82F6">
              <a:alpha val="33000"/>
            </a:srgbClr>
          </a:solidFill>
          <a:ln w="12700">
            <a:solidFill>
              <a:srgbClr val="3B82F6">
                <a:alpha val="3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600200" y="29718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257300" y="3314700"/>
            <a:ext cx="1600200" cy="1600200"/>
          </a:xfrm>
          <a:prstGeom prst="ellipse">
            <a:avLst/>
          </a:prstGeom>
          <a:solidFill>
            <a:srgbClr val="06B6D4">
              <a:alpha val="27000"/>
            </a:srgbClr>
          </a:solidFill>
          <a:ln w="12700">
            <a:solidFill>
              <a:srgbClr val="06B6D4">
                <a:alpha val="2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286000"/>
            <a:ext cx="1280160" cy="128016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320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20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ON VERCEL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84048" y="8229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</a:t>
            </a:r>
            <a:endParaRPr lang="en-US" sz="8000" dirty="0"/>
          </a:p>
        </p:txBody>
      </p:sp>
      <p:sp>
        <p:nvSpPr>
          <p:cNvPr id="49" name="Shape 47"/>
          <p:cNvSpPr/>
          <p:nvPr/>
        </p:nvSpPr>
        <p:spPr>
          <a:xfrm>
            <a:off x="384048" y="2148840"/>
            <a:ext cx="7315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8720" y="21488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93392" y="2148840"/>
            <a:ext cx="731520" cy="6400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Restaurant Operating System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384048" y="2834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ordering  ·  Kitchen sync  ·  Powerful analytics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384048" y="333756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337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www.zappy.ind.in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166360" y="100584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276088" y="111556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11430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5166360" y="1664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86600" y="100584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196328" y="111556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86600" y="11430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7086600" y="1664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166360" y="242316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276088" y="253288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66360" y="25603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5166360" y="3081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86600" y="242316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196328" y="25328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86600" y="25603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7086600" y="3081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·  June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1280160"/>
            <a:ext cx="2560320" cy="256032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1A2030">
              <a:alpha val="25000"/>
            </a:srgbClr>
          </a:solidFill>
          <a:ln w="12700">
            <a:solidFill>
              <a:srgbClr val="1A2030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74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A1520"/>
          </a:solidFill>
          <a:ln w="12700">
            <a:solidFill>
              <a:srgbClr val="2A15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74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DILEMMA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your revenue escaping?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365760" y="14447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setups — paper tickets, disjointed tablets, legacy POS — cost you customer satisfaction and margins every day.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6032" y="2057400"/>
            <a:ext cx="2788920" cy="2788920"/>
          </a:xfrm>
          <a:prstGeom prst="roundRect">
            <a:avLst>
              <a:gd name="adj" fmla="val 3934"/>
            </a:avLst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" y="22128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CHURN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20624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The Silent Loss of Guest Retention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20624" y="303580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guests leave without a chance to recover. Feedback becomes damaging public reviews on Google, eroding your brand reputation.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0624" y="4681728"/>
            <a:ext cx="2468880" cy="36576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82112" y="2057400"/>
            <a:ext cx="2788920" cy="2788920"/>
          </a:xfrm>
          <a:prstGeom prst="roundRect">
            <a:avLst>
              <a:gd name="adj" fmla="val 3934"/>
            </a:avLst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46704" y="22128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46704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BD3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OVERHEAD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346704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Fragmented Order Bottlenecks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3346704" y="303580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Waiters relay orders manually between tables and kitchen. Miscommunications cause delays, incorrect orders, and frustrated guests.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46704" y="4681728"/>
            <a:ext cx="2468880" cy="36576"/>
          </a:xfrm>
          <a:prstGeom prst="rect">
            <a:avLst/>
          </a:prstGeom>
          <a:solidFill>
            <a:srgbClr val="FBD38D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08192" y="2057400"/>
            <a:ext cx="2788920" cy="2788920"/>
          </a:xfrm>
          <a:prstGeom prst="roundRect">
            <a:avLst>
              <a:gd name="adj" fmla="val 3934"/>
            </a:avLst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72784" y="22128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CHAOS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72784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POS Desynchronization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6272784" y="303580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software disconnected from the kitchen means checkout delays, split-bill errors, and lost revenue from comp'ed meals.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72784" y="4681728"/>
            <a:ext cx="2468880" cy="36576"/>
          </a:xfrm>
          <a:prstGeom prst="rect">
            <a:avLst/>
          </a:prstGeom>
          <a:solidFill>
            <a:srgbClr val="76E4F7"/>
          </a:solidFill>
          <a:ln w="12700">
            <a:solidFill>
              <a:srgbClr val="76E4F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685800"/>
            <a:ext cx="3200400" cy="32004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74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D2A2A"/>
          </a:solidFill>
          <a:ln w="12700">
            <a:solidFill>
              <a:srgbClr val="0D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74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ZAPPY ECOSYSTEM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flow. Zero friction.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365760" y="13716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communication gaps by replacing paper workflows with a single synchronized software environment.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645920" y="2779776"/>
            <a:ext cx="310896" cy="36576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56232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64592" y="1920240"/>
            <a:ext cx="1499616" cy="2606040"/>
          </a:xfrm>
          <a:prstGeom prst="roundRect">
            <a:avLst>
              <a:gd name="adj" fmla="val 7317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" y="2029968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0606D4"/>
          </a:solidFill>
          <a:ln w="12700">
            <a:solidFill>
              <a:srgbClr val="060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20299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24505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256032" y="2999232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&amp; Pick Seat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4672" y="4279392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38144" y="2779776"/>
            <a:ext cx="310896" cy="36576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48456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956816" y="1920240"/>
            <a:ext cx="1499616" cy="2606040"/>
          </a:xfrm>
          <a:prstGeom prst="roundRect">
            <a:avLst>
              <a:gd name="adj" fmla="val 7317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432304" y="2029968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308216"/>
          </a:solidFill>
          <a:ln w="12700">
            <a:solidFill>
              <a:srgbClr val="3082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32304" y="20299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432304" y="24505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2048256" y="2999232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2596896" y="427939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0368" y="2779776"/>
            <a:ext cx="310896" cy="36576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4068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3749040" y="1920240"/>
            <a:ext cx="1499616" cy="2606040"/>
          </a:xfrm>
          <a:prstGeom prst="roundRect">
            <a:avLst>
              <a:gd name="adj" fmla="val 7317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224528" y="2029968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59E00"/>
          </a:solidFill>
          <a:ln w="12700">
            <a:solidFill>
              <a:srgbClr val="159E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24528" y="20299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224528" y="24505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3840480" y="2999232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Receives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Prepares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389120" y="427939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22592" y="2779776"/>
            <a:ext cx="310896" cy="36576"/>
          </a:xfrm>
          <a:prstGeom prst="rect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32904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5541264" y="1920240"/>
            <a:ext cx="1499616" cy="2606040"/>
          </a:xfrm>
          <a:prstGeom prst="roundRect">
            <a:avLst>
              <a:gd name="adj" fmla="val 7317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016752" y="2029968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00981"/>
          </a:solidFill>
          <a:ln w="12700">
            <a:solidFill>
              <a:srgbClr val="100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16752" y="20299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016752" y="24505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74" name="Text 72"/>
          <p:cNvSpPr/>
          <p:nvPr/>
        </p:nvSpPr>
        <p:spPr>
          <a:xfrm>
            <a:off x="5632704" y="2999232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Waiter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6181344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33488" y="1920240"/>
            <a:ext cx="1499616" cy="2606040"/>
          </a:xfrm>
          <a:prstGeom prst="roundRect">
            <a:avLst>
              <a:gd name="adj" fmla="val 7317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808976" y="2029968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E14444"/>
          </a:solidFill>
          <a:ln w="12700">
            <a:solidFill>
              <a:srgbClr val="E1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08976" y="20299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808976" y="24505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800" dirty="0"/>
          </a:p>
        </p:txBody>
      </p:sp>
      <p:sp>
        <p:nvSpPr>
          <p:cNvPr id="80" name="Text 78"/>
          <p:cNvSpPr/>
          <p:nvPr/>
        </p:nvSpPr>
        <p:spPr>
          <a:xfrm>
            <a:off x="7424928" y="2999232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Billing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7973568" y="427939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749040"/>
            <a:ext cx="2743200" cy="27432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60120" y="4160520"/>
            <a:ext cx="1920240" cy="1920240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13716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-960120"/>
            <a:ext cx="1920240" cy="1920240"/>
          </a:xfrm>
          <a:prstGeom prst="ellipse">
            <a:avLst/>
          </a:prstGeom>
          <a:solidFill>
            <a:srgbClr val="06B6D4">
              <a:alpha val="27000"/>
            </a:srgbClr>
          </a:solidFill>
          <a:ln w="12700">
            <a:solidFill>
              <a:srgbClr val="06B6D4">
                <a:alpha val="2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560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560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high-frequency dining</a:t>
            </a:r>
            <a:endParaRPr lang="en-US" sz="3200" dirty="0"/>
          </a:p>
        </p:txBody>
      </p:sp>
      <p:sp>
        <p:nvSpPr>
          <p:cNvPr id="45" name="Shape 43"/>
          <p:cNvSpPr/>
          <p:nvPr/>
        </p:nvSpPr>
        <p:spPr>
          <a:xfrm>
            <a:off x="201168" y="1463040"/>
            <a:ext cx="2798064" cy="1508760"/>
          </a:xfrm>
          <a:prstGeom prst="roundRect">
            <a:avLst>
              <a:gd name="adj" fmla="val 7273"/>
            </a:avLst>
          </a:prstGeom>
          <a:solidFill>
            <a:srgbClr val="0D2A2A"/>
          </a:solidFill>
          <a:ln w="12700">
            <a:solidFill>
              <a:srgbClr val="0D2A2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1645920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50976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QR Seat Selection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50976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scan a QR code and select their exact seat with persistent device recognition for future visits.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1168" y="2898648"/>
            <a:ext cx="2798064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72968" y="1463040"/>
            <a:ext cx="2798064" cy="1508760"/>
          </a:xfrm>
          <a:prstGeom prst="roundRect">
            <a:avLst>
              <a:gd name="adj" fmla="val 7273"/>
            </a:avLst>
          </a:prstGeom>
          <a:solidFill>
            <a:srgbClr val="2A1F0D"/>
          </a:solidFill>
          <a:ln w="12700">
            <a:solidFill>
              <a:srgbClr val="2A1F0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337560" y="1645920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3756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922776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Chef-Inspired KDS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922776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Display System lists live tokens, order items, seat pairings, and real-time status updates.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72968" y="2898648"/>
            <a:ext cx="279806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44768" y="1463040"/>
            <a:ext cx="2798064" cy="1508760"/>
          </a:xfrm>
          <a:prstGeom prst="roundRect">
            <a:avLst>
              <a:gd name="adj" fmla="val 7273"/>
            </a:avLst>
          </a:prstGeom>
          <a:solidFill>
            <a:srgbClr val="0D1A35"/>
          </a:solidFill>
          <a:ln w="12700">
            <a:solidFill>
              <a:srgbClr val="0D1A3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309360" y="1645920"/>
            <a:ext cx="475488" cy="475488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894576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Live Analytics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894576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food ratings, review volume, and ticket trends. Spot peak hours and table turnover stats instantly.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44768" y="2898648"/>
            <a:ext cx="2798064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3127248"/>
            <a:ext cx="2798064" cy="1508760"/>
          </a:xfrm>
          <a:prstGeom prst="roundRect">
            <a:avLst>
              <a:gd name="adj" fmla="val 7273"/>
            </a:avLst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3310128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950976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Center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950976" y="367588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critical feedback before guest exit. Auto-compute ratings, extract sentiment, trigger recovery flows.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01168" y="4562856"/>
            <a:ext cx="279806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72968" y="3127248"/>
            <a:ext cx="2798064" cy="1508760"/>
          </a:xfrm>
          <a:prstGeom prst="roundRect">
            <a:avLst>
              <a:gd name="adj" fmla="val 7273"/>
            </a:avLst>
          </a:prstGeom>
          <a:solidFill>
            <a:srgbClr val="2A0D0D"/>
          </a:solidFill>
          <a:ln w="12700">
            <a:solidFill>
              <a:srgbClr val="2A0D0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337560" y="3310128"/>
            <a:ext cx="475488" cy="47548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3922776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Security &amp; RLS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3922776" y="367588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enforced at the database. Multi-tenant isolation ensures each restaurant sees only its data.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172968" y="4562856"/>
            <a:ext cx="2798064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44768" y="3127248"/>
            <a:ext cx="2798064" cy="1508760"/>
          </a:xfrm>
          <a:prstGeom prst="roundRect">
            <a:avLst>
              <a:gd name="adj" fmla="val 7273"/>
            </a:avLst>
          </a:prstGeom>
          <a:solidFill>
            <a:srgbClr val="0D2A2A"/>
          </a:solidFill>
          <a:ln w="12700">
            <a:solidFill>
              <a:srgbClr val="0D2A2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9360" y="3310128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6894576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Table Timers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6894576" y="367588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seat occupation timers and table turn analytics help hosts optimize throughput during peak service.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44768" y="4562856"/>
            <a:ext cx="2798064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560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5603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6949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15-Tab Restaurant Command Centre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6032" y="1298448"/>
            <a:ext cx="1417320" cy="3749040"/>
          </a:xfrm>
          <a:prstGeom prst="roundRect">
            <a:avLst>
              <a:gd name="adj" fmla="val 7742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7472" y="13898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ZAPPY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" y="1847088"/>
            <a:ext cx="1325880" cy="237744"/>
          </a:xfrm>
          <a:prstGeom prst="roundRect">
            <a:avLst>
              <a:gd name="adj" fmla="val 30769"/>
            </a:avLst>
          </a:prstGeom>
          <a:solidFill>
            <a:srgbClr val="1E3A6A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1865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4048" y="2139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4048" y="24140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" y="26883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Manager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84048" y="29626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84048" y="32369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84048" y="35112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84048" y="37856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84048" y="4059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84048" y="4334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84048" y="45994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more tabs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792224" y="1298448"/>
            <a:ext cx="7095744" cy="3749040"/>
          </a:xfrm>
          <a:prstGeom prst="roundRect">
            <a:avLst>
              <a:gd name="adj" fmla="val 2927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792224" y="1298448"/>
            <a:ext cx="7095744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 Overview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3232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3    👤 Admin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01952" y="179222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11E32"/>
          </a:solidFill>
          <a:ln w="12700">
            <a:solidFill>
              <a:srgbClr val="111E3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011680" y="186537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84,200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011680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Today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593592" y="179222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11E32"/>
          </a:solidFill>
          <a:ln w="12700">
            <a:solidFill>
              <a:srgbClr val="111E3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703320" y="186537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3703320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285232" y="179222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11E32"/>
          </a:solidFill>
          <a:ln w="12700">
            <a:solidFill>
              <a:srgbClr val="111E3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94960" y="186537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24/36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5394960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Active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976872" y="179222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11E32"/>
          </a:solidFill>
          <a:ln w="12700">
            <a:solidFill>
              <a:srgbClr val="111E3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086600" y="186537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7086600" y="22677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Rating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901952" y="2743200"/>
            <a:ext cx="4389120" cy="2103120"/>
          </a:xfrm>
          <a:prstGeom prst="roundRect">
            <a:avLst>
              <a:gd name="adj" fmla="val 5217"/>
            </a:avLst>
          </a:prstGeom>
          <a:solidFill>
            <a:srgbClr val="111E32"/>
          </a:solidFill>
          <a:ln w="12700">
            <a:solidFill>
              <a:srgbClr val="111E3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01168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(7 days)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993392" y="3794760"/>
            <a:ext cx="384048" cy="731520"/>
          </a:xfrm>
          <a:prstGeom prst="roundRect">
            <a:avLst>
              <a:gd name="adj" fmla="val 9524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0320" y="3520440"/>
            <a:ext cx="384048" cy="1005840"/>
          </a:xfrm>
          <a:prstGeom prst="roundRect">
            <a:avLst>
              <a:gd name="adj" fmla="val 9524"/>
            </a:avLst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27248" y="3657600"/>
            <a:ext cx="384048" cy="868680"/>
          </a:xfrm>
          <a:prstGeom prst="roundRect">
            <a:avLst>
              <a:gd name="adj" fmla="val 9524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4176" y="3337560"/>
            <a:ext cx="384048" cy="1188720"/>
          </a:xfrm>
          <a:prstGeom prst="roundRect">
            <a:avLst>
              <a:gd name="adj" fmla="val 9524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61104" y="3063240"/>
            <a:ext cx="384048" cy="1463040"/>
          </a:xfrm>
          <a:prstGeom prst="roundRect">
            <a:avLst>
              <a:gd name="adj" fmla="val 9524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28032" y="3429000"/>
            <a:ext cx="384048" cy="1097280"/>
          </a:xfrm>
          <a:prstGeom prst="roundRect">
            <a:avLst>
              <a:gd name="adj" fmla="val 9524"/>
            </a:avLst>
          </a:prstGeom>
          <a:solidFill>
            <a:srgbClr val="3B82F6">
              <a:alpha val="95000"/>
            </a:srgbClr>
          </a:solidFill>
          <a:ln w="12700">
            <a:solidFill>
              <a:srgbClr val="3B82F6">
                <a:alpha val="9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94960" y="2880360"/>
            <a:ext cx="384048" cy="1645920"/>
          </a:xfrm>
          <a:prstGeom prst="roundRect">
            <a:avLst>
              <a:gd name="adj" fmla="val 952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01952" y="4526280"/>
            <a:ext cx="4389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00800" y="27432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11E32"/>
          </a:solidFill>
          <a:ln w="12700">
            <a:solidFill>
              <a:srgbClr val="111E3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510528" y="2816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Orders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510528" y="31272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T-04  Veg Biryani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510528" y="35387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T-07  Butter Chicken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510528" y="3950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T-11  Masala Dosa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510528" y="4361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T-02  Mango Lassi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297180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09460" y="3451860"/>
            <a:ext cx="2240280" cy="2240280"/>
          </a:xfrm>
          <a:prstGeom prst="ellipse">
            <a:avLst/>
          </a:prstGeom>
          <a:solidFill>
            <a:srgbClr val="10B981">
              <a:alpha val="27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from scan to billing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320040" y="1325880"/>
            <a:ext cx="2633472" cy="3611880"/>
          </a:xfrm>
          <a:prstGeom prst="roundRect">
            <a:avLst>
              <a:gd name="adj" fmla="val 694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90500" dist="50800" dir="27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93192" y="1399032"/>
            <a:ext cx="2487168" cy="502920"/>
          </a:xfrm>
          <a:prstGeom prst="roundRect">
            <a:avLst>
              <a:gd name="adj" fmla="val 21818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>
                <a:alpha val="8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" y="1417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&amp; Seat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93192" y="1399032"/>
            <a:ext cx="2487168" cy="109728"/>
          </a:xfrm>
          <a:prstGeom prst="round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13990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20299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at table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2551176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seat (1-8)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" y="2990088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" y="2907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remembered next visit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3429000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" y="3346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needed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435608" y="4681728"/>
            <a:ext cx="402336" cy="164592"/>
          </a:xfrm>
          <a:prstGeom prst="ellipse">
            <a:avLst/>
          </a:prstGeom>
          <a:solidFill>
            <a:srgbClr val="1E2D4A"/>
          </a:solidFill>
          <a:ln w="12700">
            <a:solidFill>
              <a:srgbClr val="2A3D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64408" y="1325880"/>
            <a:ext cx="2633472" cy="3611880"/>
          </a:xfrm>
          <a:prstGeom prst="roundRect">
            <a:avLst>
              <a:gd name="adj" fmla="val 694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90500" dist="50800" dir="2700000">
              <a:srgbClr val="000000">
                <a:alpha val="4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337560" y="1399032"/>
            <a:ext cx="2487168" cy="502920"/>
          </a:xfrm>
          <a:prstGeom prst="roundRect">
            <a:avLst>
              <a:gd name="adj" fmla="val 21818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92424" y="1417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Browse &amp; Order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337560" y="1399032"/>
            <a:ext cx="2487168" cy="109728"/>
          </a:xfrm>
          <a:prstGeom prst="round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74136" y="13990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3447288" y="211226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48456" y="20299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with photos &amp; prices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447288" y="255117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48456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 or diet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47288" y="299008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48456" y="2907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live total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447288" y="342900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48456" y="3346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 time shown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379976" y="4681728"/>
            <a:ext cx="402336" cy="164592"/>
          </a:xfrm>
          <a:prstGeom prst="ellipse">
            <a:avLst/>
          </a:prstGeom>
          <a:solidFill>
            <a:srgbClr val="1E2D4A"/>
          </a:solidFill>
          <a:ln w="12700">
            <a:solidFill>
              <a:srgbClr val="2A3D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08776" y="1325880"/>
            <a:ext cx="2633472" cy="3611880"/>
          </a:xfrm>
          <a:prstGeom prst="roundRect">
            <a:avLst>
              <a:gd name="adj" fmla="val 694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90500" dist="50800" dir="2700000">
              <a:srgbClr val="000000">
                <a:alpha val="4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281928" y="1399032"/>
            <a:ext cx="2487168" cy="502920"/>
          </a:xfrm>
          <a:prstGeom prst="roundRect">
            <a:avLst>
              <a:gd name="adj" fmla="val 21818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36792" y="1417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Track &amp; Pay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281928" y="1399032"/>
            <a:ext cx="2487168" cy="109728"/>
          </a:xfrm>
          <a:prstGeom prst="round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18504" y="13990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6391656" y="21122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92824" y="20299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token tracker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391656" y="25511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92824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waiter button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391656" y="29900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92824" y="2907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digital bill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391656" y="34290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92824" y="3346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before leaving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324344" y="4681728"/>
            <a:ext cx="402336" cy="164592"/>
          </a:xfrm>
          <a:prstGeom prst="ellipse">
            <a:avLst/>
          </a:prstGeom>
          <a:solidFill>
            <a:srgbClr val="1E2D4A"/>
          </a:solidFill>
          <a:ln w="12700">
            <a:solidFill>
              <a:srgbClr val="2A3D5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required  ·  Works on any smartphone  ·  Persistent device recognition  ·  zappy.ind.in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-22860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-1737360"/>
            <a:ext cx="2560320" cy="2560320"/>
          </a:xfrm>
          <a:prstGeom prst="ellipse">
            <a:avLst/>
          </a:prstGeom>
          <a:solidFill>
            <a:srgbClr val="F59E0B">
              <a:alpha val="27000"/>
            </a:srgbClr>
          </a:solidFill>
          <a:ln w="1270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18000"/>
            </a:srgbClr>
          </a:solidFill>
          <a:ln w="12700">
            <a:solidFill>
              <a:srgbClr val="0E1A2E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A1F0D"/>
          </a:solidFill>
          <a:ln w="12700">
            <a:solidFill>
              <a:srgbClr val="2A1F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 SYSTEM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orchestration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256032" y="1280160"/>
            <a:ext cx="8631936" cy="3611880"/>
          </a:xfrm>
          <a:prstGeom prst="roundRect">
            <a:avLst>
              <a:gd name="adj" fmla="val 3038"/>
            </a:avLst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1280160"/>
            <a:ext cx="8631936" cy="420624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3167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Kitchen Dashboard — Live Queue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1335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Connected  •  14 pending  •  3 ready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84048" y="1783080"/>
            <a:ext cx="2633472" cy="347472"/>
          </a:xfrm>
          <a:prstGeom prst="roundRect">
            <a:avLst>
              <a:gd name="adj" fmla="val 1578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17830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NEW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36976" y="1783080"/>
            <a:ext cx="2633472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36976" y="17830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PREPARING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89904" y="1783080"/>
            <a:ext cx="2633472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9904" y="17830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84048" y="2212848"/>
            <a:ext cx="2615184" cy="1197864"/>
          </a:xfrm>
          <a:prstGeom prst="roundRect">
            <a:avLst>
              <a:gd name="adj" fmla="val 763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01600" dist="50800" dir="2700000">
              <a:srgbClr val="EF4444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4048" y="2212848"/>
            <a:ext cx="2615184" cy="1197864"/>
          </a:xfrm>
          <a:prstGeom prst="roundRect">
            <a:avLst>
              <a:gd name="adj" fmla="val 7634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22677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T-04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938528" y="2276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ago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2064" y="2505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Veg Biryani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2064" y="2743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2× Naan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2064" y="2980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Dal Makhani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84048" y="3520440"/>
            <a:ext cx="2615184" cy="941832"/>
          </a:xfrm>
          <a:prstGeom prst="roundRect">
            <a:avLst>
              <a:gd name="adj" fmla="val 9709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01600" dist="50800" dir="2700000">
              <a:srgbClr val="EF4444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12064" y="3575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T-09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938528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ago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2064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2× Butter Chicken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2064" y="40507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Roti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36976" y="2212848"/>
            <a:ext cx="2615184" cy="941832"/>
          </a:xfrm>
          <a:prstGeom prst="roundRect">
            <a:avLst>
              <a:gd name="adj" fmla="val 9709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01600" dist="50800" dir="2700000">
              <a:srgbClr val="F59E0B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364992" y="22677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T-07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791456" y="2276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 ago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364992" y="2505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Masala Dosa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364992" y="2743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Sambar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36976" y="3264408"/>
            <a:ext cx="2615184" cy="941832"/>
          </a:xfrm>
          <a:prstGeom prst="roundRect">
            <a:avLst>
              <a:gd name="adj" fmla="val 9709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01600" dist="50800" dir="2700000">
              <a:srgbClr val="F59E0B">
                <a:alpha val="3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364992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T-12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91456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 ago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364992" y="3557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3× Mango Lassi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364992" y="3794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Gulab Jamun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089904" y="2212848"/>
            <a:ext cx="2615184" cy="941832"/>
          </a:xfrm>
          <a:prstGeom prst="roundRect">
            <a:avLst>
              <a:gd name="adj" fmla="val 9709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01600" dist="50800" dir="2700000">
              <a:srgbClr val="10B981">
                <a:alpha val="3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217920" y="22677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T-02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644384" y="2276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ago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17920" y="2505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1× Thali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217920" y="2743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2× Chai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3200400"/>
            <a:ext cx="4572000" cy="4572000"/>
          </a:xfrm>
          <a:prstGeom prst="ellipse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3886200"/>
            <a:ext cx="3200400" cy="320040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 by operations. Trusted by guests.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320040" y="141732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1572768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15087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5200" dirty="0"/>
          </a:p>
        </p:txBody>
      </p:sp>
      <p:sp>
        <p:nvSpPr>
          <p:cNvPr id="46" name="Text 44"/>
          <p:cNvSpPr/>
          <p:nvPr/>
        </p:nvSpPr>
        <p:spPr>
          <a:xfrm>
            <a:off x="320040" y="2304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 Value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upsells and seamless re-ordering increase guest spending per visit.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1417320"/>
            <a:ext cx="24688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6120" y="141732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429000" y="1572768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15087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</a:t>
            </a:r>
            <a:endParaRPr lang="en-US" sz="5200" dirty="0"/>
          </a:p>
        </p:txBody>
      </p:sp>
      <p:sp>
        <p:nvSpPr>
          <p:cNvPr id="52" name="Text 50"/>
          <p:cNvSpPr/>
          <p:nvPr/>
        </p:nvSpPr>
        <p:spPr>
          <a:xfrm>
            <a:off x="3246120" y="2304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Turn Time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38328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QR ordering and rapid digital billing speed up checkout cycles.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383280" y="1417320"/>
            <a:ext cx="24688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141732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55080" y="1572768"/>
            <a:ext cx="475488" cy="475488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15087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5200" dirty="0"/>
          </a:p>
        </p:txBody>
      </p:sp>
      <p:sp>
        <p:nvSpPr>
          <p:cNvPr id="58" name="Text 56"/>
          <p:cNvSpPr/>
          <p:nvPr/>
        </p:nvSpPr>
        <p:spPr>
          <a:xfrm>
            <a:off x="6172200" y="2304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Satisfaction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30936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coordination stress leads to better service and higher gratuities.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1417320"/>
            <a:ext cx="24688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3767328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0040" y="3767328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3767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105156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Zappy completely changed our dinner rush. Orders reach the kitchen instantly, billing is frictionless, and our average checkout time dropped by over 4 minutes per table.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1051560" y="4315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Ros, Restaurant Owner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749040"/>
            <a:ext cx="2743200" cy="27432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4160520"/>
            <a:ext cx="1920240" cy="192024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5000"/>
            </a:srgbClr>
          </a:solidFill>
          <a:ln w="12700">
            <a:solidFill>
              <a:srgbClr val="0E1A2E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Enterprise-grade. Cloud-native. Always on.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256032" y="1353312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" y="141732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3192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6384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6384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rendering, Suspense, startTransition for performance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93192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6384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6384" y="2816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 across 100% of the codebase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93192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6384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6384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HMR, optimised production builds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93192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6384" y="4005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86384" y="4279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 and page transitions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36976" y="1353312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328416" y="141732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28416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DATABASE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74136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767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767328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Row Level Security multi-tenant isolation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374136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767328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WS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767328" y="2816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subscriptions — live order/kitchen sync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374136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767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767328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Google OAuth integration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374136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767328" y="4005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767328" y="4279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staff management, notifications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17920" y="1353312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309360" y="141732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35508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748272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748272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git push — zero-downtime deployments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35508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748272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748272" y="2816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 pipeline on every commit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35508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748272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748272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processing integration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35508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48272" y="4005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748272" y="4279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served globally for fast load times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-1143000" y="-1143000"/>
            <a:ext cx="2286000" cy="2286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00100" y="-800100"/>
            <a:ext cx="1600200" cy="1600200"/>
          </a:xfrm>
          <a:prstGeom prst="ellipse">
            <a:avLst/>
          </a:prstGeom>
          <a:solidFill>
            <a:srgbClr val="10B981">
              <a:alpha val="27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Tested. Fixed. Shipped. Deployed.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320040" y="1389888"/>
            <a:ext cx="2029968" cy="109728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1389888"/>
            <a:ext cx="20299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1536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320040" y="21214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Tabs Passing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96312" y="1389888"/>
            <a:ext cx="2029968" cy="109728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496312" y="1389888"/>
            <a:ext cx="20299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1536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4200" dirty="0"/>
          </a:p>
        </p:txBody>
      </p:sp>
      <p:sp>
        <p:nvSpPr>
          <p:cNvPr id="50" name="Text 48"/>
          <p:cNvSpPr/>
          <p:nvPr/>
        </p:nvSpPr>
        <p:spPr>
          <a:xfrm>
            <a:off x="2496312" y="21214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Verified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72584" y="1389888"/>
            <a:ext cx="2029968" cy="109728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72584" y="1389888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2584" y="1536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54" name="Text 52"/>
          <p:cNvSpPr/>
          <p:nvPr/>
        </p:nvSpPr>
        <p:spPr>
          <a:xfrm>
            <a:off x="4672584" y="21214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48856" y="1389888"/>
            <a:ext cx="2029968" cy="1097280"/>
          </a:xfrm>
          <a:prstGeom prst="roundRect">
            <a:avLst>
              <a:gd name="adj" fmla="val 1000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48856" y="1389888"/>
            <a:ext cx="20299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48856" y="15361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58" name="Text 56"/>
          <p:cNvSpPr/>
          <p:nvPr/>
        </p:nvSpPr>
        <p:spPr>
          <a:xfrm>
            <a:off x="6848856" y="21214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Added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2651760"/>
            <a:ext cx="4160520" cy="2029968"/>
          </a:xfrm>
          <a:prstGeom prst="roundRect">
            <a:avLst>
              <a:gd name="adj" fmla="val 5405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75488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🐞  Bugs Fixed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75488" y="309067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WaiterManagement.tsx — generic channel name → restaurant-scoped unique channel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5488" y="345643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StaffManagement.tsx — stale state in metrics → fresh empData with null-safety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5488" y="382219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AdminDashboard.tsx — AnimatePresence mode='wait' → removed from outer wrapper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5488" y="418795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ImpersonationBanner.tsx — wrong column ref → banner fixed for Super Admins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2651760"/>
            <a:ext cx="4160520" cy="2029968"/>
          </a:xfrm>
          <a:prstGeom prst="roundRect">
            <a:avLst>
              <a:gd name="adj" fmla="val 5405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818888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New Features Shipped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818888" y="309067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TabErrorBoundary — per-tab crash isolation with Retry UI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18888" y="345643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startTransition — React 18 non-urgent tab switching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18888" y="382219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Notification Bell — real-time new-order badge in AdminHeader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818888" y="43434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TypeScript errors in final build · Live on Vercel · All tabs tested post-deploy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F59E0B">
              <a:alpha val="27000"/>
            </a:srgbClr>
          </a:solidFill>
          <a:ln w="1270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A1F0D"/>
          </a:solidFill>
          <a:ln w="12700">
            <a:solidFill>
              <a:srgbClr val="2A1F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 Lakh Crore market — largely undigitised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-137160" y="1371600"/>
            <a:ext cx="3657600" cy="365760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280160"/>
            <a:ext cx="2798064" cy="365760"/>
          </a:xfrm>
          <a:prstGeom prst="roundRect">
            <a:avLst>
              <a:gd name="adj" fmla="val 15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12801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20040" y="201168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₹4.2L Cr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320040" y="272491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food service industry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" y="307238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46120" y="1371600"/>
            <a:ext cx="2743200" cy="274320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46120" y="1280160"/>
            <a:ext cx="2798064" cy="365760"/>
          </a:xfrm>
          <a:prstGeom prst="roundRect">
            <a:avLst>
              <a:gd name="adj" fmla="val 15000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12801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246120" y="201168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₹42,000 Cr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3246120" y="272491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Tech-ready urban restaurants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46120" y="307238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37960" y="1371600"/>
            <a:ext cx="2011680" cy="201168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1280160"/>
            <a:ext cx="2798064" cy="365760"/>
          </a:xfrm>
          <a:prstGeom prst="roundRect">
            <a:avLst>
              <a:gd name="adj" fmla="val 15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12801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172200" y="201168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₹4,200 Cr</a:t>
            </a:r>
            <a:endParaRPr lang="en-US" sz="3200" dirty="0"/>
          </a:p>
        </p:txBody>
      </p:sp>
      <p:sp>
        <p:nvSpPr>
          <p:cNvPr id="59" name="Text 57"/>
          <p:cNvSpPr/>
          <p:nvPr/>
        </p:nvSpPr>
        <p:spPr>
          <a:xfrm>
            <a:off x="6172200" y="272491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restaurants in 3 years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172200" y="307238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3520440"/>
            <a:ext cx="2029968" cy="1024128"/>
          </a:xfrm>
          <a:prstGeom prst="roundRect">
            <a:avLst>
              <a:gd name="adj" fmla="val 1071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20040" y="361188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7.5M+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320040" y="4114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in India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96312" y="3520440"/>
            <a:ext cx="2029968" cy="1024128"/>
          </a:xfrm>
          <a:prstGeom prst="roundRect">
            <a:avLst>
              <a:gd name="adj" fmla="val 1071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496312" y="361188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2496312" y="4114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(2024–2029)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72584" y="3520440"/>
            <a:ext cx="2029968" cy="1024128"/>
          </a:xfrm>
          <a:prstGeom prst="roundRect">
            <a:avLst>
              <a:gd name="adj" fmla="val 1071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672584" y="361188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4672584" y="4114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digitised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48856" y="3520440"/>
            <a:ext cx="2029968" cy="1024128"/>
          </a:xfrm>
          <a:prstGeom prst="roundRect">
            <a:avLst>
              <a:gd name="adj" fmla="val 10714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848856" y="361188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 Cr</a:t>
            </a:r>
            <a:endParaRPr lang="en-US" sz="2600" dirty="0"/>
          </a:p>
        </p:txBody>
      </p:sp>
      <p:sp>
        <p:nvSpPr>
          <p:cNvPr id="72" name="Text 70"/>
          <p:cNvSpPr/>
          <p:nvPr/>
        </p:nvSpPr>
        <p:spPr>
          <a:xfrm>
            <a:off x="6848856" y="41148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FoodTech in 2024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3657600"/>
            <a:ext cx="3657600" cy="36576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4206240"/>
            <a:ext cx="2560320" cy="2560320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2000"/>
            </a:srgbClr>
          </a:solidFill>
          <a:ln w="12700">
            <a:solidFill>
              <a:srgbClr val="0E1A2E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5603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560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next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25400">
            <a:solidFill>
              <a:srgbClr val="2A3A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1288" y="212140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" y="1508760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4048" y="2487168"/>
            <a:ext cx="1938528" cy="2212848"/>
          </a:xfrm>
          <a:prstGeom prst="roundRect">
            <a:avLst>
              <a:gd name="adj" fmla="val 566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2064" y="2560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admin dashboard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" y="2889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15-tab management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" y="32186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5-role auth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2064" y="3547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ordering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2064" y="38770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KDS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" y="42062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 billing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37560" y="212140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34640" y="1508760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IN DEV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560320" y="2487168"/>
            <a:ext cx="1938528" cy="2212848"/>
          </a:xfrm>
          <a:prstGeom prst="roundRect">
            <a:avLst>
              <a:gd name="adj" fmla="val 566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688336" y="2560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menu suggestions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688336" y="2889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auto-reorder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688336" y="32186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notifications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688336" y="3547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Multi-outlet chains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688336" y="38770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Franchise dashboard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13832" y="212140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010912" y="1508760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10912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PLANNED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736592" y="2487168"/>
            <a:ext cx="1938528" cy="2212848"/>
          </a:xfrm>
          <a:prstGeom prst="roundRect">
            <a:avLst>
              <a:gd name="adj" fmla="val 566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864608" y="2560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analytics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864608" y="2889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Loyalty programme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864608" y="32186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reservation API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64608" y="3547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table sensors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64608" y="38770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SLAs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690104" y="212140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12864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187184" y="1508760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87184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VISION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912864" y="2487168"/>
            <a:ext cx="1938528" cy="2212848"/>
          </a:xfrm>
          <a:prstGeom prst="roundRect">
            <a:avLst>
              <a:gd name="adj" fmla="val 566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7040880" y="2560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Pan-India scale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040880" y="2889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Zappy Marketplace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040880" y="32186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hub (Swiggy, Zomato)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040880" y="3547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offering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040880" y="38770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Series A expansion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45720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685800"/>
            <a:ext cx="3200400" cy="3200400"/>
          </a:xfrm>
          <a:prstGeom prst="ellipse">
            <a:avLst/>
          </a:prstGeom>
          <a:solidFill>
            <a:srgbClr val="F59E0B">
              <a:alpha val="27000"/>
            </a:srgbClr>
          </a:solidFill>
          <a:ln w="1270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-914400"/>
            <a:ext cx="1828800" cy="18288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640080" y="-640080"/>
            <a:ext cx="1280160" cy="128016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0E1A2E">
              <a:alpha val="20000"/>
            </a:srgbClr>
          </a:solidFill>
          <a:ln w="12700">
            <a:solidFill>
              <a:srgbClr val="0E1A2E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56032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A1A0D"/>
          </a:solidFill>
          <a:ln w="12700">
            <a:solidFill>
              <a:srgbClr val="2A1A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56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ASK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₹2.5 Crore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· Product live · Traction starting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20040" y="1783080"/>
            <a:ext cx="5074920" cy="2926080"/>
          </a:xfrm>
          <a:prstGeom prst="roundRect">
            <a:avLst>
              <a:gd name="adj" fmla="val 375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5488" y="18470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Use of Funds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5488" y="230428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993392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993392" y="2487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features, mobile apps, integrations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" y="285292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993392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993392" y="30358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onboarding, brand campaigns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" y="34015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" y="3401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993392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993392" y="35844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success, support infrastructure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" y="395020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" y="3950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993392" y="3950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993392" y="41330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protection, regulatory filings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577840" y="17830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733288" y="1847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18-Month Milestones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733288" y="2304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086600" y="23500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onboarded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733288" y="2852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 ARR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086600" y="28986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733288" y="3401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Cities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086600" y="344728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Mumbai, Bengaluru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733288" y="3950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086600" y="39959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Q2 2027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0" y="4828032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  ·  The Restaurant Operating System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-914400"/>
            <a:ext cx="6400800" cy="64008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45720"/>
            <a:ext cx="4480560" cy="448056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38328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3794760"/>
            <a:ext cx="1920240" cy="1920240"/>
          </a:xfrm>
          <a:prstGeom prst="ellipse">
            <a:avLst/>
          </a:prstGeom>
          <a:solidFill>
            <a:srgbClr val="06B6D4">
              <a:alpha val="27000"/>
            </a:srgbClr>
          </a:solidFill>
          <a:ln w="12700">
            <a:solidFill>
              <a:srgbClr val="06B6D4">
                <a:alpha val="2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685800" y="-685800"/>
            <a:ext cx="2286000" cy="2286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342900" y="-342900"/>
            <a:ext cx="1600200" cy="1600200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5486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ZAPPY</a:t>
            </a:r>
            <a:endParaRPr lang="en-US" sz="8600" dirty="0"/>
          </a:p>
        </p:txBody>
      </p:sp>
      <p:sp>
        <p:nvSpPr>
          <p:cNvPr id="46" name="Shape 44"/>
          <p:cNvSpPr/>
          <p:nvPr/>
        </p:nvSpPr>
        <p:spPr>
          <a:xfrm>
            <a:off x="3200400" y="187452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2084832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dining. Together.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280160" y="2816352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127000" dist="50800" dir="2700000">
              <a:srgbClr val="06B6D4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280160" y="28163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www.zappy.ind.in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749040" y="2816352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127000" dist="50800" dir="2700000">
              <a:srgbClr val="3B82F6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749040" y="28163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hello@zappy.ind.in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17920" y="2816352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127000" dist="50800" dir="2700000">
              <a:srgbClr val="10B981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217920" y="28163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India  ·  SaaS Platform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0" y="342900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 ·  Live on Vercel  ·  All tests passing  ·  Series Seed 2026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30352" y="391363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20240" y="391363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0240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310128" y="391363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10128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0016" y="391363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0016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9904" y="391363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9904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479792" y="3913632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79792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70916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0" y="4791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Review Only  ·  © 2026 Zappy Restaurant OS  ·  All Rights Reserved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Zappy — Restaurant Operating System</dc:title>
  <dc:subject>Investor Pitch Deck 2026</dc:subject>
  <dc:creator>Zappy Engineering</dc:creator>
  <cp:lastModifiedBy>Zappy Engineering</cp:lastModifiedBy>
  <cp:revision>1</cp:revision>
  <dcterms:created xsi:type="dcterms:W3CDTF">2026-06-24T20:12:01Z</dcterms:created>
  <dcterms:modified xsi:type="dcterms:W3CDTF">2026-06-24T20:12:01Z</dcterms:modified>
</cp:coreProperties>
</file>