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Monthly Recurring Revenue Growth (INR Lakhs)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(INR Lakhs)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M6</c:v>
                  </c:pt>
                  <c:pt idx="1">
                    <c:v>M12</c:v>
                  </c:pt>
                  <c:pt idx="2">
                    <c:v>M18</c:v>
                  </c:pt>
                  <c:pt idx="3">
                    <c:v>M24</c:v>
                  </c:pt>
                  <c:pt idx="4">
                    <c:v>M30</c:v>
                  </c:pt>
                  <c:pt idx="5">
                    <c:v>M36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1.2</c:v>
                </c:pt>
                <c:pt idx="1">
                  <c:v>4.8</c:v>
                </c:pt>
                <c:pt idx="2">
                  <c:v>12</c:v>
                </c:pt>
                <c:pt idx="3">
                  <c:v>24</c:v>
                </c:pt>
                <c:pt idx="4">
                  <c:v>45</c:v>
                </c:pt>
                <c:pt idx="5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bubble3D val="0"/>
            <c:spPr>
              <a:solidFill>
                <a:srgbClr val="3B82F6"/>
              </a:solidFill>
              <a:effectLst/>
            </c:spPr>
          </c:dPt>
          <c:dPt>
            <c:idx val="2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</c:dPt>
          <c:dPt>
            <c:idx val="4"/>
            <c:bubble3D val="0"/>
            <c:spPr>
              <a:solidFill>
                <a:srgbClr val="FACC1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Product &amp; Engineering</c:v>
                </c:pt>
                <c:pt idx="1">
                  <c:v>Sales &amp; Marketing</c:v>
                </c:pt>
                <c:pt idx="2">
                  <c:v>Operations</c:v>
                </c:pt>
                <c:pt idx="3">
                  <c:v>Working Capital</c:v>
                </c:pt>
                <c:pt idx="4">
                  <c:v>Legal &amp; Compliance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40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0"/>
            <a:ext cx="2834640" cy="16459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065008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631936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98864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765792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332720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99648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66576" y="822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65008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631936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198864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765792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0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66576" y="17373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0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65008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631936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9198864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765792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332720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899648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1466576" y="26517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498080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8065008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631936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198864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9765792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332720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899648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1466576" y="35661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0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065008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631936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9198864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65792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332720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899648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1466576" y="44805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98080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065008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631936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9198864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765792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332720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899648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1466576" y="5394960"/>
            <a:ext cx="73152" cy="7315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FFFFF"/>
                </a:solidFill>
              </a:rPr>
              <a:t>ZA</a:t>
            </a:r>
            <a:endParaRPr lang="en-US" sz="7800" dirty="0"/>
          </a:p>
        </p:txBody>
      </p:sp>
      <p:sp>
        <p:nvSpPr>
          <p:cNvPr id="53" name="Text 51"/>
          <p:cNvSpPr/>
          <p:nvPr/>
        </p:nvSpPr>
        <p:spPr>
          <a:xfrm>
            <a:off x="1737360" y="13716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ACC15"/>
                </a:solidFill>
              </a:rPr>
              <a:t>PPY</a:t>
            </a:r>
            <a:endParaRPr lang="en-US" sz="7800" dirty="0"/>
          </a:p>
        </p:txBody>
      </p:sp>
      <p:sp>
        <p:nvSpPr>
          <p:cNvPr id="54" name="Text 52"/>
          <p:cNvSpPr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spc="300" kern="0" dirty="0">
                <a:solidFill>
                  <a:srgbClr val="A78BFA"/>
                </a:solidFill>
              </a:rPr>
              <a:t>scan. order. eat. repeat.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48640" y="3246120"/>
            <a:ext cx="27432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6" name="Text 54"/>
          <p:cNvSpPr/>
          <p:nvPr/>
        </p:nvSpPr>
        <p:spPr>
          <a:xfrm>
            <a:off x="548640" y="3429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The Restaurant Operating System</a:t>
            </a:r>
            <a:endParaRPr lang="en-US" sz="2400" dirty="0"/>
          </a:p>
        </p:txBody>
      </p:sp>
      <p:sp>
        <p:nvSpPr>
          <p:cNvPr id="57" name="Text 55"/>
          <p:cNvSpPr/>
          <p:nvPr/>
        </p:nvSpPr>
        <p:spPr>
          <a:xfrm>
            <a:off x="548640" y="41605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Investor Pitch Deck  ·  June 2026  ·  Seed Round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548640" y="5120640"/>
            <a:ext cx="2286000" cy="5486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548640" y="5120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Seeking ₹2 Crore Seed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48640" y="59893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Live: zappy-blond.vercel.app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2C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Where Is Your Revenue Escaping?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55778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D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80160"/>
            <a:ext cx="5577840" cy="502920"/>
          </a:xfrm>
          <a:prstGeom prst="rect">
            <a:avLst/>
          </a:prstGeom>
          <a:solidFill>
            <a:srgbClr val="F97316">
              <a:alpha val="7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3502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📋 Paper Ticket Chaos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Orders lost in transit. Wrong items reach wrong tables. Manual entry errors cost 23% of orders accuracy.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89120" y="18745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</a:rPr>
              <a:t>23%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912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order error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263640" y="1280160"/>
            <a:ext cx="55778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D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280160"/>
            <a:ext cx="5577840" cy="502920"/>
          </a:xfrm>
          <a:prstGeom prst="rect">
            <a:avLst/>
          </a:prstGeom>
          <a:solidFill>
            <a:srgbClr val="F97316">
              <a:alpha val="7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33502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⏱ Slow Table Turns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Manual billing takes 8-12 min per table. No speed, no efficiency. Tables sit idle, revenue walks out.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287000" y="18745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</a:rPr>
              <a:t>-30%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287000" y="269748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revenue from idle tables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3840480"/>
            <a:ext cx="55778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D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840480"/>
            <a:ext cx="5577840" cy="502920"/>
          </a:xfrm>
          <a:prstGeom prst="rect">
            <a:avLst/>
          </a:prstGeom>
          <a:solidFill>
            <a:srgbClr val="F97316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89534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📡 Zero Kitchen Sync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4348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Kitchen doesn't know table status. Waiters don't know order status. Total operational disconnect.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0" y="4434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</a:rPr>
              <a:t>47%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389120" y="5257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staff time wasted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263640" y="3840480"/>
            <a:ext cx="5577840" cy="23317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4D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840480"/>
            <a:ext cx="5577840" cy="502920"/>
          </a:xfrm>
          <a:prstGeom prst="rect">
            <a:avLst/>
          </a:prstGeom>
          <a:solidFill>
            <a:srgbClr val="F97316">
              <a:alpha val="7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895344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📊 No Analytics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4434840"/>
            <a:ext cx="3749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No insight into popular items, peak hours, or revenue trends. Owners flying blind every single day.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87000" y="443484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ACC15"/>
                </a:solidFill>
              </a:rPr>
              <a:t>₹2L+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287000" y="5257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monthly revenue lost avg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Market Opportunity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200400" cy="3200400"/>
          </a:xfrm>
          <a:prstGeom prst="ellipse">
            <a:avLst/>
          </a:prstGeom>
          <a:solidFill>
            <a:srgbClr val="7C3AED">
              <a:alpha val="90000"/>
            </a:srgbClr>
          </a:solidFill>
          <a:ln w="381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C3AED"/>
                </a:solidFill>
              </a:rPr>
              <a:t>TAM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₹1,200 Cr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All India Restaurants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7.5M+ restaurants growing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 9% CAGR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97680" y="1188720"/>
            <a:ext cx="3200400" cy="3200400"/>
          </a:xfrm>
          <a:prstGeom prst="ellipse">
            <a:avLst/>
          </a:prstGeom>
          <a:solidFill>
            <a:srgbClr val="3B82F6">
              <a:alpha val="90000"/>
            </a:srgbClr>
          </a:solidFill>
          <a:ln w="381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417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B82F6"/>
                </a:solidFill>
              </a:rPr>
              <a:t>SAM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₹120 Cr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29768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Tech-ready Mid-tier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750K restaurants open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to digital upgrade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46720" y="1188720"/>
            <a:ext cx="3200400" cy="3200400"/>
          </a:xfrm>
          <a:prstGeom prst="ellipse">
            <a:avLst/>
          </a:prstGeom>
          <a:solidFill>
            <a:srgbClr val="10B981">
              <a:alpha val="90000"/>
            </a:srgbClr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17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</a:rPr>
              <a:t>SOM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046720" y="2240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</a:rPr>
              <a:t>₹12 Cr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046720" y="29718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Year 3 Target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0" y="4617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5,000 restaurants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at ₹2,400/mo avg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5623560"/>
            <a:ext cx="2788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5696712"/>
            <a:ext cx="2788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7.5M+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65760" y="6206947"/>
            <a:ext cx="2788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Restaurants in India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5623560"/>
            <a:ext cx="2788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91840" y="5696712"/>
            <a:ext cx="2788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9% CAGR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3291840" y="6206947"/>
            <a:ext cx="2788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Market Growth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5623560"/>
            <a:ext cx="2788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5696712"/>
            <a:ext cx="2788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68%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217920" y="6206947"/>
            <a:ext cx="2788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Under-digitised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00" y="5623560"/>
            <a:ext cx="2788920" cy="10058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144000" y="5696712"/>
            <a:ext cx="278892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INR4.2L Cr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9144000" y="6206947"/>
            <a:ext cx="2788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Food Service Rev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Zappy — The Complete Restaurant 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</a:rPr>
              <a:t>One platform. Five roles. Zero paper. Real-time everything.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37033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20240"/>
            <a:ext cx="685800" cy="685800"/>
          </a:xfrm>
          <a:prstGeom prst="ellipse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1938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Customer App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" y="2697480"/>
            <a:ext cx="3383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QR scan → seat select → digital menu → real-time order tracking. No app download needed.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37360"/>
            <a:ext cx="37033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920240"/>
            <a:ext cx="685800" cy="685800"/>
          </a:xfrm>
          <a:prstGeom prst="ellipse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👨‍🍳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1938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Kitchen Display (KDS)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62272" y="2697480"/>
            <a:ext cx="3383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/>
          <p:nvPr/>
        </p:nvSpPr>
        <p:spPr>
          <a:xfrm>
            <a:off x="4462272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Live order tickets by station (Kitchen/Bar/Dessert). Kanban: Pending→Preparing→Ready→Served.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7033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412480" y="1920240"/>
            <a:ext cx="685800" cy="685800"/>
          </a:xfrm>
          <a:prstGeom prst="ellipse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9202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🛎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235440" y="193852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Waiter Dashboard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94192" y="2697480"/>
            <a:ext cx="3383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Text 20"/>
          <p:cNvSpPr/>
          <p:nvPr/>
        </p:nvSpPr>
        <p:spPr>
          <a:xfrm>
            <a:off x="8394192" y="2788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Table status grid, waiter call notifications, active sessions, seat management. All real-time.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69080"/>
            <a:ext cx="37033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4251960"/>
            <a:ext cx="685800" cy="685800"/>
          </a:xfrm>
          <a:prstGeom prst="ellipse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💳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71600" y="4270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Billing Counter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30352" y="5029200"/>
            <a:ext cx="3383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" y="5120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One-click invoice, multi-payment, daily revenue analytics, export-ready billing history.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97680" y="4069080"/>
            <a:ext cx="37033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80560" y="4251960"/>
            <a:ext cx="685800" cy="685800"/>
          </a:xfrm>
          <a:prstGeom prst="ellipse">
            <a:avLst/>
          </a:prstGeom>
          <a:solidFill>
            <a:srgbClr val="8B5CF6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270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Restaurant Admin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62272" y="5029200"/>
            <a:ext cx="3383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Text 32"/>
          <p:cNvSpPr/>
          <p:nvPr/>
        </p:nvSpPr>
        <p:spPr>
          <a:xfrm>
            <a:off x="4462272" y="5120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Menu CRUD, QR manager, inventory, staff management, revenue trends, promotions.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4069080"/>
            <a:ext cx="3703320" cy="2103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12480" y="4251960"/>
            <a:ext cx="685800" cy="685800"/>
          </a:xfrm>
          <a:prstGeom prst="ellipse">
            <a:avLst/>
          </a:prstGeom>
          <a:solidFill>
            <a:srgbClr val="FACC15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2519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235440" y="42702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Super Admin SaaS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394192" y="5029200"/>
            <a:ext cx="33832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Text 38"/>
          <p:cNvSpPr/>
          <p:nvPr/>
        </p:nvSpPr>
        <p:spPr>
          <a:xfrm>
            <a:off x="8394192" y="51206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Multi-tenant console, tenant onboarding, subscription plans, platform MRR, platform ads.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2C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Zappy Works — End-to-End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60120" y="1371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7724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9436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</a:rPr>
              <a:t>Scan QR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Customer scans table QR.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No app download needed.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2011680"/>
            <a:ext cx="347472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71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10896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🪑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92608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</a:rPr>
              <a:t>Select Seat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3464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Pick seat number.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Personalized session starts.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10912" y="2011680"/>
            <a:ext cx="347472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371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562356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4068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🍽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25780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</a:rPr>
              <a:t>Browse &amp; Order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16636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Swipe digital menu.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AI suggests pairings.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42632" y="2011680"/>
            <a:ext cx="347472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0" y="1371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95528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777240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👨‍🍳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58952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</a:rPr>
              <a:t>Kitchen Alert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Order appears instantly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on KDS by station.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2011680"/>
            <a:ext cx="347472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287000" y="1371600"/>
            <a:ext cx="1280160" cy="1280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7"/>
          <p:cNvSpPr/>
          <p:nvPr/>
        </p:nvSpPr>
        <p:spPr>
          <a:xfrm>
            <a:off x="10287000" y="13716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5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104120" y="2834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992124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CC15"/>
                </a:solidFill>
              </a:rPr>
              <a:t>Serve &amp; Bill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82980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Customer gets notified.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One-tap invoice.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0" y="5349240"/>
            <a:ext cx="5212080" cy="77724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66160" y="534924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⚡ Supabase Realtime WebSockets — Zero page refresh. Instant push notifications across all roles.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Product: Customer Digital Menu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5532120"/>
          </a:xfrm>
          <a:prstGeom prst="rect">
            <a:avLst/>
          </a:prstGeom>
          <a:solidFill>
            <a:srgbClr val="1A1A2E"/>
          </a:solidFill>
          <a:ln w="38100">
            <a:solidFill>
              <a:srgbClr val="3333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Hotel Tamilnadu  •  TABLE T1  •  SEAT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874520"/>
            <a:ext cx="1783080" cy="1051560"/>
          </a:xfrm>
          <a:prstGeom prst="rect">
            <a:avLst/>
          </a:prstGeom>
          <a:solidFill>
            <a:srgbClr val="1E1E3F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🔥 SPECIAL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CC15"/>
                </a:solidFill>
              </a:rPr>
              <a:t>SUMMER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04288" y="1874520"/>
            <a:ext cx="1783080" cy="1051560"/>
          </a:xfrm>
          <a:prstGeom prst="rect">
            <a:avLst/>
          </a:prstGeom>
          <a:solidFill>
            <a:srgbClr val="1A2C3D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196596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🏷 20% OFF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WEEKEND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048" y="3044952"/>
            <a:ext cx="667512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All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097280" y="3044952"/>
            <a:ext cx="667512" cy="347472"/>
          </a:xfrm>
          <a:prstGeom prst="roundRect">
            <a:avLst>
              <a:gd name="adj" fmla="val 21053"/>
            </a:avLst>
          </a:prstGeom>
          <a:solidFill>
            <a:srgbClr val="2A355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🔥 Trend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10512" y="3044952"/>
            <a:ext cx="667512" cy="347472"/>
          </a:xfrm>
          <a:prstGeom prst="roundRect">
            <a:avLst>
              <a:gd name="adj" fmla="val 21053"/>
            </a:avLst>
          </a:prstGeom>
          <a:solidFill>
            <a:srgbClr val="2A3550"/>
          </a:solidFill>
          <a:ln/>
        </p:spPr>
      </p:sp>
      <p:sp>
        <p:nvSpPr>
          <p:cNvPr id="16" name="Text 14"/>
          <p:cNvSpPr/>
          <p:nvPr/>
        </p:nvSpPr>
        <p:spPr>
          <a:xfrm>
            <a:off x="1810512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👨‍🍳 Chef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23744" y="3044952"/>
            <a:ext cx="667512" cy="347472"/>
          </a:xfrm>
          <a:prstGeom prst="roundRect">
            <a:avLst>
              <a:gd name="adj" fmla="val 21053"/>
            </a:avLst>
          </a:prstGeom>
          <a:solidFill>
            <a:srgbClr val="2A3550"/>
          </a:solidFill>
          <a:ln/>
        </p:spPr>
      </p:sp>
      <p:sp>
        <p:nvSpPr>
          <p:cNvPr id="18" name="Text 16"/>
          <p:cNvSpPr/>
          <p:nvPr/>
        </p:nvSpPr>
        <p:spPr>
          <a:xfrm>
            <a:off x="2523744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🌿 Healthy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36976" y="3044952"/>
            <a:ext cx="667512" cy="347472"/>
          </a:xfrm>
          <a:prstGeom prst="roundRect">
            <a:avLst>
              <a:gd name="adj" fmla="val 21053"/>
            </a:avLst>
          </a:prstGeom>
          <a:solidFill>
            <a:srgbClr val="2A3550"/>
          </a:solidFill>
          <a:ln/>
        </p:spPr>
      </p:sp>
      <p:sp>
        <p:nvSpPr>
          <p:cNvPr id="20" name="Text 18"/>
          <p:cNvSpPr/>
          <p:nvPr/>
        </p:nvSpPr>
        <p:spPr>
          <a:xfrm>
            <a:off x="3236976" y="3044952"/>
            <a:ext cx="667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🌶 Spicy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3520440"/>
            <a:ext cx="171907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05840" y="3566160"/>
            <a:ext cx="566928" cy="566928"/>
          </a:xfrm>
          <a:prstGeom prst="ellipse">
            <a:avLst/>
          </a:prstGeom>
          <a:solidFill>
            <a:srgbClr val="2D3A4F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Masala Dosa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57200" y="43068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CC15"/>
                </a:solidFill>
              </a:rPr>
              <a:t>₹120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61288" y="43068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★4.8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764792" y="414223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1764792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240280" y="3520440"/>
            <a:ext cx="171907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34640" y="3566160"/>
            <a:ext cx="566928" cy="566928"/>
          </a:xfrm>
          <a:prstGeom prst="ellipse">
            <a:avLst/>
          </a:prstGeom>
          <a:solidFill>
            <a:srgbClr val="2D3A4F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286000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Paneer Tikka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286000" y="430682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CC15"/>
                </a:solidFill>
              </a:rPr>
              <a:t>₹280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990088" y="430682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★4.7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93592" y="414223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3593592" y="41422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11480" y="4617720"/>
            <a:ext cx="171907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05840" y="4663440"/>
            <a:ext cx="566928" cy="566928"/>
          </a:xfrm>
          <a:prstGeom prst="ellipse">
            <a:avLst/>
          </a:prstGeom>
          <a:solidFill>
            <a:srgbClr val="2D3A4F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457200" y="5257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Filter Coffee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57200" y="54041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CC15"/>
                </a:solidFill>
              </a:rPr>
              <a:t>₹60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161288" y="5404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★4.9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764792" y="523951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1764792" y="5239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240280" y="4617720"/>
            <a:ext cx="1719072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34640" y="4663440"/>
            <a:ext cx="566928" cy="566928"/>
          </a:xfrm>
          <a:prstGeom prst="ellipse">
            <a:avLst/>
          </a:prstGeom>
          <a:solidFill>
            <a:srgbClr val="2D3A4F"/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🍽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2286000" y="525780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Biryani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2286000" y="540410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ACC15"/>
                </a:solidFill>
              </a:rPr>
              <a:t>₹350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2990088" y="5404104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★4.9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593592" y="5239512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2" name="Text 50"/>
          <p:cNvSpPr/>
          <p:nvPr/>
        </p:nvSpPr>
        <p:spPr>
          <a:xfrm>
            <a:off x="3593592" y="5239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+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274320" y="6199632"/>
            <a:ext cx="3931920" cy="42976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4" name="Text 52"/>
          <p:cNvSpPr/>
          <p:nvPr/>
        </p:nvSpPr>
        <p:spPr>
          <a:xfrm>
            <a:off x="384048" y="6236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🏠 Home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52144" y="6236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🔍 Search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920240" y="6236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📋 Orders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688336" y="6236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🔔 Alerts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456432" y="623620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👤 Profile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434840" y="11155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Customer Experience Features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4434840" y="1737360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454456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📲</a:t>
            </a:r>
            <a:endParaRPr lang="en-US" sz="2200" dirty="0"/>
          </a:p>
        </p:txBody>
      </p:sp>
      <p:sp>
        <p:nvSpPr>
          <p:cNvPr id="62" name="Text 60"/>
          <p:cNvSpPr/>
          <p:nvPr/>
        </p:nvSpPr>
        <p:spPr>
          <a:xfrm>
            <a:off x="516636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QR Code Ordering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4544568" y="23591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 app download — scan table QR, pick seat, start ordering in 10 seconds.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046720" y="1737360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8156448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8778240" y="1828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Smart Promotions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8156448" y="2359152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Restaurant pushes banners for daily specials &amp; discounts directly on menu screen.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434840" y="3273552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454456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5166360" y="3364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AI Food Pairings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544568" y="38953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"Best with Crispy Spring Rolls" — AI recommends complementary items to boost ticket size.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8046720" y="3273552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8156448" y="3383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74" name="Text 72"/>
          <p:cNvSpPr/>
          <p:nvPr/>
        </p:nvSpPr>
        <p:spPr>
          <a:xfrm>
            <a:off x="8778240" y="336499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Post-Order Reviews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156448" y="38953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Star rating dialog auto-triggers when order is Served. Collects feedback in-flow.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4434840" y="4809744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4544568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📍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5166360" y="4901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Live Order Tracking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4544568" y="543153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5-stage pipeline: Placed→Accepted→Preparing→Ready→Served. Real-time WebSocket push.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8046720" y="4809744"/>
            <a:ext cx="3383280" cy="1371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8156448" y="49194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🛎</a:t>
            </a:r>
            <a:endParaRPr lang="en-US" sz="2200" dirty="0"/>
          </a:p>
        </p:txBody>
      </p:sp>
      <p:sp>
        <p:nvSpPr>
          <p:cNvPr id="82" name="Text 80"/>
          <p:cNvSpPr/>
          <p:nvPr/>
        </p:nvSpPr>
        <p:spPr>
          <a:xfrm>
            <a:off x="8778240" y="4901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Call Waiter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8156448" y="543153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One-tap waiter call from menu screen — instant notification on Waiter Dashboard.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Kitchen Display System  •  Waiter Dashboard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669280" cy="55321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566928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16128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🍳  Kitchen Display  •  0 pending • 0 preparing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84048" y="1801368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18013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All Stations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773936" y="1801368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E2E8F0"/>
          </a:solidFill>
          <a:ln/>
        </p:spPr>
      </p:sp>
      <p:sp>
        <p:nvSpPr>
          <p:cNvPr id="10" name="Text 8"/>
          <p:cNvSpPr/>
          <p:nvPr/>
        </p:nvSpPr>
        <p:spPr>
          <a:xfrm>
            <a:off x="1773936" y="18013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🔥 Kitchen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163824" y="1801368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E2E8F0"/>
          </a:solidFill>
          <a:ln/>
        </p:spPr>
      </p:sp>
      <p:sp>
        <p:nvSpPr>
          <p:cNvPr id="12" name="Text 10"/>
          <p:cNvSpPr/>
          <p:nvPr/>
        </p:nvSpPr>
        <p:spPr>
          <a:xfrm>
            <a:off x="3163824" y="18013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🍺 Bar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53712" y="1801368"/>
            <a:ext cx="1298448" cy="347472"/>
          </a:xfrm>
          <a:prstGeom prst="roundRect">
            <a:avLst>
              <a:gd name="adj" fmla="val 15789"/>
            </a:avLst>
          </a:prstGeom>
          <a:solidFill>
            <a:srgbClr val="E2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4553712" y="1801368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🍰 Dessert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286000"/>
            <a:ext cx="1298448" cy="347472"/>
          </a:xfrm>
          <a:prstGeom prst="rect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2860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97316"/>
                </a:solidFill>
              </a:rPr>
              <a:t>⏳ Pending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9768" y="2724912"/>
            <a:ext cx="120700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614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#12 T1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Butter Chicken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8 min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" y="3749040"/>
            <a:ext cx="120700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85616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#13 T2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Masala Chai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3 min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773936" y="2286000"/>
            <a:ext cx="1298448" cy="347472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773936" y="22860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82F6"/>
                </a:solidFill>
              </a:rPr>
              <a:t>🔵 Preparing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19656" y="2724912"/>
            <a:ext cx="120700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47088" y="27614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#10 T3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Biryani+Raita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12 min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163824" y="2286000"/>
            <a:ext cx="1298448" cy="347472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163824" y="22860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0B981"/>
                </a:solidFill>
              </a:rPr>
              <a:t>🟢 Ready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9544" y="2724912"/>
            <a:ext cx="1207008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36976" y="2761488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#11 T1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Paneer Dosa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SERVE NOW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53712" y="2286000"/>
            <a:ext cx="1298448" cy="347472"/>
          </a:xfrm>
          <a:prstGeom prst="rect">
            <a:avLst/>
          </a:prstGeom>
          <a:solidFill>
            <a:srgbClr val="94A3B8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553712" y="228600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4A3B8"/>
                </a:solidFill>
              </a:rPr>
              <a:t>⚪ Served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553712" y="27889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</a:rPr>
              <a:t>No orders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17720" y="6144768"/>
            <a:ext cx="1261872" cy="3657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6144768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📺 TV Mode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097280"/>
            <a:ext cx="5669280" cy="55321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097280"/>
            <a:ext cx="5669280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1161288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🛎  Waiter Dashboard  •  1 pending call • 2 tables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09360" y="1828800"/>
            <a:ext cx="2606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382512" y="19019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🔔 Waiter Calls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577072" y="192024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8577072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82512" y="2377440"/>
            <a:ext cx="2450592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Table T1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89520" y="2423160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237m ago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46520" y="2770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Customer assistance requested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419088" y="3182112"/>
            <a:ext cx="10515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19088" y="31821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Acknowledge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589520" y="3182112"/>
            <a:ext cx="105156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7589520" y="318211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✓ Resolve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034272" y="1828800"/>
            <a:ext cx="27432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09828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Tables Overview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9098280" y="2377440"/>
            <a:ext cx="1188720" cy="777240"/>
          </a:xfrm>
          <a:prstGeom prst="rect">
            <a:avLst/>
          </a:prstGeom>
          <a:solidFill>
            <a:srgbClr val="7C3AED">
              <a:alpha val="2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98280" y="2423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</a:rPr>
              <a:t>T1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09828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Occupied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10424160" y="2377440"/>
            <a:ext cx="1188720" cy="777240"/>
          </a:xfrm>
          <a:prstGeom prst="rect">
            <a:avLst/>
          </a:prstGeom>
          <a:solidFill>
            <a:srgbClr val="94A3B8">
              <a:alpha val="20000"/>
            </a:srgbClr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424160" y="24231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4A3B8"/>
                </a:solidFill>
              </a:rPr>
              <a:t>T2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10424160" y="28529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Available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098280" y="3337560"/>
            <a:ext cx="1188720" cy="777240"/>
          </a:xfrm>
          <a:prstGeom prst="rect">
            <a:avLst/>
          </a:prstGeom>
          <a:solidFill>
            <a:srgbClr val="F97316">
              <a:alpha val="20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09828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T3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9098280" y="3813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Pending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10424160" y="3337560"/>
            <a:ext cx="1188720" cy="777240"/>
          </a:xfrm>
          <a:prstGeom prst="rect">
            <a:avLst/>
          </a:prstGeom>
          <a:solidFill>
            <a:srgbClr val="10B981">
              <a:alpha val="20000"/>
            </a:srgbClr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42416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T4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0424160" y="38130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Ready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91072" y="4645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o Available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671816" y="4645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C3AED"/>
                </a:solidFill>
              </a:rPr>
              <a:t>* Occupied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9052560" y="4645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97316"/>
                </a:solidFill>
              </a:rPr>
              <a:t>* Pending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0433304" y="4645152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</a:rPr>
              <a:t>* Ready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Admin Dashboard  •  Platform Console (Super Admin)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5669280" cy="55321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627632" cy="5532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6" name="Shape 4"/>
          <p:cNvSpPr/>
          <p:nvPr/>
        </p:nvSpPr>
        <p:spPr>
          <a:xfrm>
            <a:off x="292608" y="1847088"/>
            <a:ext cx="1591056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88366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  Dashboard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47472" y="23682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Orders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47472" y="2852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Tables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333756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QR Manager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47472" y="3822192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Menu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47472" y="43068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Kitchen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47472" y="479145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Billing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47472" y="5276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Inventory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7472" y="576072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  Waiters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1170432"/>
            <a:ext cx="1536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Hotel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Tamilnadu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38528" y="1097280"/>
            <a:ext cx="3977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0" y="1188720"/>
            <a:ext cx="3822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Hotel Tamilnadu  —  Admin  •  v2.4.1-prod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1828800"/>
            <a:ext cx="1810512" cy="7040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18562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INR908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11680" y="22585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Today's Rev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931920" y="1828800"/>
            <a:ext cx="1810512" cy="7040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1856232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931920" y="2258568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Orders 7d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011680" y="2633472"/>
            <a:ext cx="1810512" cy="7040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66090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</a:rPr>
              <a:t>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011680" y="3063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Active Tables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931920" y="2633472"/>
            <a:ext cx="1810512" cy="7040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66090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</a:rPr>
              <a:t>INR1,408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31920" y="3063240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7d Revenue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938528" y="3493008"/>
            <a:ext cx="3977640" cy="2852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011680" y="3566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</a:rPr>
              <a:t>📈 Revenue Trend  —  INR1,408.12 (6 orders/7 days)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11680" y="4005072"/>
            <a:ext cx="3822192" cy="2011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8840" y="5855818"/>
            <a:ext cx="384048" cy="160934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651760" y="5654650"/>
            <a:ext cx="384048" cy="362102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154680" y="5775350"/>
            <a:ext cx="384048" cy="241402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4306824"/>
            <a:ext cx="384048" cy="1709928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160520" y="5513832"/>
            <a:ext cx="384048" cy="502920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663440" y="4568342"/>
            <a:ext cx="384048" cy="1448410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66360" y="4005072"/>
            <a:ext cx="384048" cy="2011680"/>
          </a:xfrm>
          <a:prstGeom prst="rect">
            <a:avLst/>
          </a:prstGeom>
          <a:solidFill>
            <a:srgbClr val="7C3AED">
              <a:alpha val="7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057400" y="6053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Mon  Tue  Wed  Thu  Fri  Sat  Sun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236208" y="1097280"/>
            <a:ext cx="5669280" cy="55321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236208" y="1097280"/>
            <a:ext cx="1719072" cy="55321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4" name="Shape 42"/>
          <p:cNvSpPr/>
          <p:nvPr/>
        </p:nvSpPr>
        <p:spPr>
          <a:xfrm>
            <a:off x="6254496" y="1847088"/>
            <a:ext cx="1682496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5" name="Text 43"/>
          <p:cNvSpPr/>
          <p:nvPr/>
        </p:nvSpPr>
        <p:spPr>
          <a:xfrm>
            <a:off x="6309360" y="18836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  Dashboard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6309360" y="236829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Tenants/Hotels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309360" y="28529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Leads CRM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09360" y="33375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Leaderboard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309360" y="38221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User Mgmt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309360" y="430682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Sub Plans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309360" y="47914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Platform Ads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309360" y="527608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Promotions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6309360" y="57607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E"/>
                </a:solidFill>
              </a:rPr>
              <a:t>  Settings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6272784" y="1170432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Super Admin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Platform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991856" y="1097280"/>
            <a:ext cx="38862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65008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Platform Console  •  v2.4.1-prod  •  MRR: ₹5,998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065008" y="1828800"/>
            <a:ext cx="17190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065008" y="185623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3AED"/>
                </a:solidFill>
              </a:rPr>
              <a:t>4</a:t>
            </a:r>
            <a:endParaRPr lang="en-US" sz="2000" dirty="0"/>
          </a:p>
        </p:txBody>
      </p:sp>
      <p:sp>
        <p:nvSpPr>
          <p:cNvPr id="59" name="Text 57"/>
          <p:cNvSpPr/>
          <p:nvPr/>
        </p:nvSpPr>
        <p:spPr>
          <a:xfrm>
            <a:off x="8065008" y="22860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Tenants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893808" y="1828800"/>
            <a:ext cx="17190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893808" y="185623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4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9893808" y="228600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Active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065008" y="2697480"/>
            <a:ext cx="17190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065008" y="27249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₹5,998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8065008" y="31546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MRR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893808" y="2697480"/>
            <a:ext cx="1719072" cy="7498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893808" y="2724912"/>
            <a:ext cx="1719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</a:rPr>
              <a:t>2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9893808" y="3154680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Premium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991856" y="3611880"/>
            <a:ext cx="3886200" cy="2816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8065008" y="368503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All Tenants — 4 of 4 restaurants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991856" y="4114800"/>
            <a:ext cx="388620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065008" y="42062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Hotel Tamilnadu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10104120" y="420624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10104120" y="42062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Enterprise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10972800" y="42062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Ord: 11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7991856" y="4663440"/>
            <a:ext cx="38862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65008" y="4754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Hotel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10104120" y="475488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4748B">
              <a:alpha val="80000"/>
            </a:srgbClr>
          </a:solidFill>
          <a:ln/>
        </p:spPr>
      </p:sp>
      <p:sp>
        <p:nvSpPr>
          <p:cNvPr id="79" name="Text 77"/>
          <p:cNvSpPr/>
          <p:nvPr/>
        </p:nvSpPr>
        <p:spPr>
          <a:xfrm>
            <a:off x="10104120" y="4754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Free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10972800" y="475488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Ord: 0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991856" y="5212080"/>
            <a:ext cx="388620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65008" y="53035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pandian hotel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10104120" y="530352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64748B">
              <a:alpha val="80000"/>
            </a:srgbClr>
          </a:solidFill>
          <a:ln/>
        </p:spPr>
      </p:sp>
      <p:sp>
        <p:nvSpPr>
          <p:cNvPr id="84" name="Text 82"/>
          <p:cNvSpPr/>
          <p:nvPr/>
        </p:nvSpPr>
        <p:spPr>
          <a:xfrm>
            <a:off x="10104120" y="53035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Free</a:t>
            </a:r>
            <a:endParaRPr lang="en-US" sz="750" dirty="0"/>
          </a:p>
        </p:txBody>
      </p:sp>
      <p:sp>
        <p:nvSpPr>
          <p:cNvPr id="85" name="Text 83"/>
          <p:cNvSpPr/>
          <p:nvPr/>
        </p:nvSpPr>
        <p:spPr>
          <a:xfrm>
            <a:off x="10972800" y="530352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Ord: 0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7991856" y="5760720"/>
            <a:ext cx="388620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65008" y="5852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veg restarant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10104120" y="5852160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7C3AED">
              <a:alpha val="80000"/>
            </a:srgbClr>
          </a:solidFill>
          <a:ln/>
        </p:spPr>
      </p:sp>
      <p:sp>
        <p:nvSpPr>
          <p:cNvPr id="89" name="Text 87"/>
          <p:cNvSpPr/>
          <p:nvPr/>
        </p:nvSpPr>
        <p:spPr>
          <a:xfrm>
            <a:off x="10104120" y="585216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C3AED"/>
                </a:solidFill>
              </a:rPr>
              <a:t>Enterprise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10972800" y="585216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Ord: 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Enterprise-grade architecture. Built for multi-tenant SaaS at scale.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83464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600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Frontend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48840"/>
            <a:ext cx="10972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" y="22128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React 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9496" y="25877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Component 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3026664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3026664"/>
            <a:ext cx="109728" cy="786384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3" name="Text 11"/>
          <p:cNvSpPr/>
          <p:nvPr/>
        </p:nvSpPr>
        <p:spPr>
          <a:xfrm>
            <a:off x="539496" y="30906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Vite 5.4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" y="3465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Fast HMR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3904488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04488"/>
            <a:ext cx="109728" cy="78638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" y="39684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TypeScript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43434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Type-safe code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782312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4782312"/>
            <a:ext cx="109728" cy="78638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" y="48463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Tailwind CSS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" y="5221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Utility styling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5660136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5660136"/>
            <a:ext cx="109728" cy="7863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" y="572414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shadcn/ui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" y="60990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Radix primitives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91840" y="1600200"/>
            <a:ext cx="283464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1600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Backend / BaaS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337560" y="2148840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37560" y="2148840"/>
            <a:ext cx="109728" cy="7863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3511296" y="22128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Supabase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11296" y="25877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PostgreSQL + Auth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3026664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37560" y="3026664"/>
            <a:ext cx="109728" cy="7863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3511296" y="30906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Realtime 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11296" y="3465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WebSocket push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3904488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7560" y="3904488"/>
            <a:ext cx="109728" cy="78638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3511296" y="39684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Row Level Security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511296" y="43434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Multi-tenant isolation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4782312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37560" y="4782312"/>
            <a:ext cx="109728" cy="7863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3" name="Text 41"/>
          <p:cNvSpPr/>
          <p:nvPr/>
        </p:nvSpPr>
        <p:spPr>
          <a:xfrm>
            <a:off x="3511296" y="4846320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Edge Functions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11296" y="5221224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Serverless API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37560" y="5660136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337560" y="5660136"/>
            <a:ext cx="109728" cy="78638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7" name="Text 45"/>
          <p:cNvSpPr/>
          <p:nvPr/>
        </p:nvSpPr>
        <p:spPr>
          <a:xfrm>
            <a:off x="3511296" y="5724144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JWT + RBAC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511296" y="6099048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5-role auth system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263640" y="1600200"/>
            <a:ext cx="283464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0" name="Text 48"/>
          <p:cNvSpPr/>
          <p:nvPr/>
        </p:nvSpPr>
        <p:spPr>
          <a:xfrm>
            <a:off x="6263640" y="160020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&amp; Intelligence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309360" y="2148840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309360" y="2148840"/>
            <a:ext cx="109728" cy="7863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3" name="Text 51"/>
          <p:cNvSpPr/>
          <p:nvPr/>
        </p:nvSpPr>
        <p:spPr>
          <a:xfrm>
            <a:off x="6483096" y="2212848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Food Pairings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83096" y="258775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Smart suggestions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309360" y="3026664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309360" y="3026664"/>
            <a:ext cx="109728" cy="78638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6483096" y="309067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Recommendation Engine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483096" y="3465576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Trending &amp; Chef tags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09360" y="3904488"/>
            <a:ext cx="274320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309360" y="3904488"/>
            <a:ext cx="109728" cy="78638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1" name="Text 59"/>
          <p:cNvSpPr/>
          <p:nvPr/>
        </p:nvSpPr>
        <p:spPr>
          <a:xfrm>
            <a:off x="6483096" y="3968496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Analytics AI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483096" y="4343400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Revenue intelligence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9235440" y="1600200"/>
            <a:ext cx="2788920" cy="47548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4" name="Text 62"/>
          <p:cNvSpPr/>
          <p:nvPr/>
        </p:nvSpPr>
        <p:spPr>
          <a:xfrm>
            <a:off x="9235440" y="160020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Deploy &amp; DevOps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9281160" y="2148840"/>
            <a:ext cx="269748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281160" y="2148840"/>
            <a:ext cx="109728" cy="7863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Text 65"/>
          <p:cNvSpPr/>
          <p:nvPr/>
        </p:nvSpPr>
        <p:spPr>
          <a:xfrm>
            <a:off x="9454896" y="2212848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Vercel Edge CDN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454896" y="2587752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Global deployment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281160" y="3026664"/>
            <a:ext cx="269748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281160" y="3026664"/>
            <a:ext cx="109728" cy="78638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1" name="Text 69"/>
          <p:cNvSpPr/>
          <p:nvPr/>
        </p:nvSpPr>
        <p:spPr>
          <a:xfrm>
            <a:off x="9454896" y="3090672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GitHub CI/CD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9454896" y="3465576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Auto pipeline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281160" y="3904488"/>
            <a:ext cx="2697480" cy="78638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9281160" y="3904488"/>
            <a:ext cx="109728" cy="78638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5" name="Text 73"/>
          <p:cNvSpPr/>
          <p:nvPr/>
        </p:nvSpPr>
        <p:spPr>
          <a:xfrm>
            <a:off x="9454896" y="3968496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SPA Routing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9454896" y="4343400"/>
            <a:ext cx="2441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vercel.json config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Business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69164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91640"/>
            <a:ext cx="5532120" cy="566928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6479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📦  SaaS Subscription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4048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Monthly recurring fees per tenant. Free → Pro (₹999) → Enterprise (₹2,999/mo) tiers. Predictable ARR.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2404872"/>
            <a:ext cx="1188720" cy="64008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240487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₹999-2,999/mo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17920" y="1691640"/>
            <a:ext cx="5532120" cy="566928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355080" y="176479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💸  Transaction Fee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240487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0.5-1% commission on orders processed. Scales with GMV as restaurants grow order volume.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424160" y="2404872"/>
            <a:ext cx="1188720" cy="640080"/>
          </a:xfrm>
          <a:prstGeom prst="rect">
            <a:avLst/>
          </a:prstGeom>
          <a:solidFill>
            <a:srgbClr val="10B981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424160" y="240487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Per order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1480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114800"/>
            <a:ext cx="5532120" cy="566928"/>
          </a:xfrm>
          <a:prstGeom prst="rect">
            <a:avLst/>
          </a:prstGeom>
          <a:solidFill>
            <a:srgbClr val="F97316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18795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📢  Platform Ads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" y="482803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Restaurants pay to promote banners inside the customer menu. CPC-based ad revenue stream.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828032"/>
            <a:ext cx="1188720" cy="640080"/>
          </a:xfrm>
          <a:prstGeom prst="rect">
            <a:avLst/>
          </a:prstGeom>
          <a:solidFill>
            <a:srgbClr val="F97316">
              <a:alpha val="1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82803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CPC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411480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4114800"/>
            <a:ext cx="5532120" cy="566928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4187952"/>
            <a:ext cx="5257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</a:rPr>
              <a:t>🤝  Setup &amp; Onboarding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55080" y="482803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One-time fee for setup, training, QR hardware kits, white-labeling for Enterprise clients.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424160" y="4828032"/>
            <a:ext cx="1188720" cy="640080"/>
          </a:xfrm>
          <a:prstGeom prst="rect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424160" y="482803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₹5K-25K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2C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Pricing Plans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Simple SaaS pricing — scale from free to enterprise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3566160" cy="4983480"/>
          </a:xfrm>
          <a:prstGeom prst="rect">
            <a:avLst/>
          </a:prstGeom>
          <a:solidFill>
            <a:srgbClr val="1E2D3D"/>
          </a:solidFill>
          <a:ln w="1905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Starter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4748B"/>
                </a:solidFill>
              </a:rPr>
              <a:t>₹0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/month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1832" y="3630168"/>
            <a:ext cx="3054096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37764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1 Branch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86968" y="41970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Basic QR Menu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86968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Kitchen Display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86968" y="50383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Up to 5 Tables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6968" y="5458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Email Support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6968" y="5879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✕  No Analytics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6968" y="63002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✕  No AI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536192"/>
            <a:ext cx="3566160" cy="51663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12080" y="1261872"/>
            <a:ext cx="2286000" cy="34747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1261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MOST POPULAR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171907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295144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CC15"/>
                </a:solidFill>
              </a:rPr>
              <a:t>₹999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4709160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/month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28032" y="3474720"/>
            <a:ext cx="3054096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73168" y="362102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3 Branches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40416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Full Digital Menu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44622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KDS + Waiter + Billing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48828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Up to 20 Tables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53035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Analytics Dashboard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57241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AI Food Suggestions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61447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Priority Support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458200" y="1691640"/>
            <a:ext cx="3566160" cy="4983480"/>
          </a:xfrm>
          <a:prstGeom prst="rect">
            <a:avLst/>
          </a:prstGeom>
          <a:solidFill>
            <a:srgbClr val="1E2D3D"/>
          </a:solidFill>
          <a:ln w="19050">
            <a:solidFill>
              <a:srgbClr val="FACC1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595360" y="18745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Enterprise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595360" y="2450592"/>
            <a:ext cx="3291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ACC15"/>
                </a:solidFill>
              </a:rPr>
              <a:t>₹2,999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8595360" y="3246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/month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714232" y="3630168"/>
            <a:ext cx="3054096" cy="18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659368" y="377647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Unlimited Branches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659368" y="41970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White-label Branding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659368" y="4617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All Dashboards + Staff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59368" y="50383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Unlimited Tables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59368" y="54589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Advanced Analytics + AI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59368" y="58795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Platform Ads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659368" y="630021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  ✓  Dedicated Mgr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Competitive Landscape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278892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15568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Feature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154680" y="1115568"/>
            <a:ext cx="146304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3154680" y="1115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Zappy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15568"/>
            <a:ext cx="14630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115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Petpooja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115568"/>
            <a:ext cx="14630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6172200" y="1115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Posist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0" y="1115568"/>
            <a:ext cx="14630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1115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Limetray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9720" y="1115568"/>
            <a:ext cx="1463040" cy="5029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9189720" y="111556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Paper-based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682496"/>
            <a:ext cx="27889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82496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QR-based Ordering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1682496"/>
            <a:ext cx="1463040" cy="51206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16824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682496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6824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1682496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6824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1682496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16824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89720" y="1682496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168249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249424"/>
            <a:ext cx="2788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24942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Real-time Kitchen Sync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54680" y="2249424"/>
            <a:ext cx="146304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54680" y="22494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2249424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22494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2249424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22494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680960" y="2249424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22494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189720" y="2249424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89720" y="224942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0040" y="2816352"/>
            <a:ext cx="27889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2816352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Multi-role Dashboards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54680" y="2816352"/>
            <a:ext cx="1463040" cy="51206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54680" y="28163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663440" y="2816352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0" y="28163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172200" y="2816352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8163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680960" y="2816352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80960" y="28163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189720" y="2816352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189720" y="281635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20040" y="3383280"/>
            <a:ext cx="2788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383280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AI Food Suggestions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154680" y="3383280"/>
            <a:ext cx="146304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54680" y="3383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63440" y="3383280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63440" y="3383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172200" y="3383280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72200" y="3383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680960" y="3383280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0" y="3383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189720" y="3383280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89720" y="3383280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20040" y="3950208"/>
            <a:ext cx="27889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3950208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Customer Order Tracking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154680" y="3950208"/>
            <a:ext cx="1463040" cy="51206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54680" y="39502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63440" y="3950208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663440" y="39502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172200" y="3950208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72200" y="39502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680960" y="3950208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680960" y="39502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189720" y="3950208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189720" y="3950208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320040" y="4517136"/>
            <a:ext cx="2788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0040" y="4517136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SaaS Multi-tenant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154680" y="4517136"/>
            <a:ext cx="146304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54680" y="45171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663440" y="4517136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63440" y="45171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172200" y="4517136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172200" y="45171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680960" y="4517136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80960" y="45171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9189720" y="4517136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189720" y="4517136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320040" y="5084064"/>
            <a:ext cx="278892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20040" y="5084064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Free Tier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3154680" y="5084064"/>
            <a:ext cx="1463040" cy="512064"/>
          </a:xfrm>
          <a:prstGeom prst="rect">
            <a:avLst/>
          </a:prstGeom>
          <a:solidFill>
            <a:srgbClr val="EDE9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54680" y="50840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4663440" y="5084064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63440" y="50840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6172200" y="5084064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172200" y="50840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NO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7680960" y="5084064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680960" y="50840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97316"/>
                </a:solidFill>
              </a:rPr>
              <a:t>Partial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9189720" y="5084064"/>
            <a:ext cx="1463040" cy="51206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9189720" y="50840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YES</a:t>
            </a:r>
            <a:endParaRPr lang="en-US" sz="1200" dirty="0"/>
          </a:p>
        </p:txBody>
      </p:sp>
      <p:sp>
        <p:nvSpPr>
          <p:cNvPr id="100" name="Shape 98"/>
          <p:cNvSpPr/>
          <p:nvPr/>
        </p:nvSpPr>
        <p:spPr>
          <a:xfrm>
            <a:off x="320040" y="5650992"/>
            <a:ext cx="278892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040" y="5650992"/>
            <a:ext cx="2788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Starting Price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3154680" y="5650992"/>
            <a:ext cx="1463040" cy="512064"/>
          </a:xfrm>
          <a:prstGeom prst="rect">
            <a:avLst/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154680" y="56509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₹0/mo</a:t>
            </a:r>
            <a:endParaRPr lang="en-US" sz="1200" dirty="0"/>
          </a:p>
        </p:txBody>
      </p:sp>
      <p:sp>
        <p:nvSpPr>
          <p:cNvPr id="104" name="Shape 102"/>
          <p:cNvSpPr/>
          <p:nvPr/>
        </p:nvSpPr>
        <p:spPr>
          <a:xfrm>
            <a:off x="4663440" y="5650992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63440" y="56509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₹1,800</a:t>
            </a:r>
            <a:endParaRPr lang="en-US" sz="1200" dirty="0"/>
          </a:p>
        </p:txBody>
      </p:sp>
      <p:sp>
        <p:nvSpPr>
          <p:cNvPr id="106" name="Shape 104"/>
          <p:cNvSpPr/>
          <p:nvPr/>
        </p:nvSpPr>
        <p:spPr>
          <a:xfrm>
            <a:off x="6172200" y="5650992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172200" y="56509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₹3,000</a:t>
            </a:r>
            <a:endParaRPr lang="en-US" sz="1200" dirty="0"/>
          </a:p>
        </p:txBody>
      </p:sp>
      <p:sp>
        <p:nvSpPr>
          <p:cNvPr id="108" name="Shape 106"/>
          <p:cNvSpPr/>
          <p:nvPr/>
        </p:nvSpPr>
        <p:spPr>
          <a:xfrm>
            <a:off x="7680960" y="5650992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680960" y="56509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₹1,500</a:t>
            </a:r>
            <a:endParaRPr lang="en-US" sz="1200" dirty="0"/>
          </a:p>
        </p:txBody>
      </p:sp>
      <p:sp>
        <p:nvSpPr>
          <p:cNvPr id="110" name="Shape 108"/>
          <p:cNvSpPr/>
          <p:nvPr/>
        </p:nvSpPr>
        <p:spPr>
          <a:xfrm>
            <a:off x="9189720" y="5650992"/>
            <a:ext cx="1463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9189720" y="5650992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₹0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320040" y="6144768"/>
            <a:ext cx="11521440" cy="594360"/>
          </a:xfrm>
          <a:prstGeom prst="rect">
            <a:avLst/>
          </a:prstGeom>
          <a:solidFill>
            <a:srgbClr val="7C3AED">
              <a:alpha val="90000"/>
            </a:srgbClr>
          </a:solidFill>
          <a:ln/>
        </p:spPr>
      </p:sp>
      <p:sp>
        <p:nvSpPr>
          <p:cNvPr id="113" name="Text 111"/>
          <p:cNvSpPr/>
          <p:nvPr/>
        </p:nvSpPr>
        <p:spPr>
          <a:xfrm>
            <a:off x="457200" y="6144768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🏆  Zappy is the ONLY platform with: AI suggestions + real-time QR ordering + 5-role dashboards + SaaS multi-tenancy — all in one.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Traction &amp; Milestones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MVP live and deployed — all 53 features tested, GO FOR LAUNCH verdict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64208"/>
            <a:ext cx="36576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64208"/>
            <a:ext cx="109728" cy="16642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" y="175564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3AED"/>
                </a:solidFill>
              </a:rPr>
              <a:t>53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21792" y="25786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Features Shipped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9626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All manually tested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97680" y="1664208"/>
            <a:ext cx="36576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664208"/>
            <a:ext cx="109728" cy="16642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553712" y="175564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B82F6"/>
                </a:solidFill>
              </a:rPr>
              <a:t>v2.4.1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53712" y="257860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Production Version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53712" y="296265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Live on Vercel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29600" y="3538728"/>
            <a:ext cx="36576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3538728"/>
            <a:ext cx="109728" cy="16642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3630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5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485632" y="44531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User Roles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85632" y="4837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SuperAdmin to Customer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538728"/>
            <a:ext cx="36576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538728"/>
            <a:ext cx="109728" cy="1664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" y="363016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621792" y="44531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Restaurant Tenants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483717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On live platform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0" y="5413248"/>
            <a:ext cx="36576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97680" y="5413248"/>
            <a:ext cx="109728" cy="16642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4553712" y="55046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B5CF6"/>
                </a:solidFill>
              </a:rPr>
              <a:t>~0ms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4553712" y="6327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Order Sync Latency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53712" y="67116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Realtime WebSockets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229600" y="5413248"/>
            <a:ext cx="3657600" cy="166420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0" y="5413248"/>
            <a:ext cx="109728" cy="16642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485632" y="550468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B981"/>
                </a:solidFill>
              </a:rPr>
              <a:t>100%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8485632" y="632764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Test Pass Rate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485632" y="6711696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GO FOR LAUNCH verdict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5486400"/>
            <a:ext cx="11430000" cy="1234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555955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Development Timeline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60350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841248" y="6181344"/>
            <a:ext cx="1645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4592" y="6382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Jan 2026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09728" y="6601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Project Started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487168" y="60350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2" name="Shape 40"/>
          <p:cNvSpPr/>
          <p:nvPr/>
        </p:nvSpPr>
        <p:spPr>
          <a:xfrm>
            <a:off x="2779776" y="6181344"/>
            <a:ext cx="1645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03120" y="6382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Mar 2026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048256" y="6601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Core Architecture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425696" y="60350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46" name="Shape 44"/>
          <p:cNvSpPr/>
          <p:nvPr/>
        </p:nvSpPr>
        <p:spPr>
          <a:xfrm>
            <a:off x="4718304" y="6181344"/>
            <a:ext cx="1645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1648" y="6382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Apr 2026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86784" y="6601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All 5 Dashboards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364224" y="60350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0" name="Shape 48"/>
          <p:cNvSpPr/>
          <p:nvPr/>
        </p:nvSpPr>
        <p:spPr>
          <a:xfrm>
            <a:off x="6656832" y="6181344"/>
            <a:ext cx="1645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0176" y="6382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May 2026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25312" y="6601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53 Features Done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302752" y="60350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Shape 52"/>
          <p:cNvSpPr/>
          <p:nvPr/>
        </p:nvSpPr>
        <p:spPr>
          <a:xfrm>
            <a:off x="8595360" y="6181344"/>
            <a:ext cx="1645920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918704" y="6382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Jun 2026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863840" y="6601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MVP Live (Vercel)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0241280" y="6035040"/>
            <a:ext cx="292608" cy="29260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8" name="Text 56"/>
          <p:cNvSpPr/>
          <p:nvPr/>
        </p:nvSpPr>
        <p:spPr>
          <a:xfrm>
            <a:off x="9857232" y="63825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NOW→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9802368" y="6601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</a:rPr>
              <a:t>Seeking ₹2Cr Seed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Revenue Projections — 3 Year Forecast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Conservative assumptions. Target breakeven at Month 18.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72768"/>
          <a:ext cx="68580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572768"/>
            <a:ext cx="443484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52360" y="1719072"/>
            <a:ext cx="4343400" cy="1024128"/>
          </a:xfrm>
          <a:prstGeom prst="rect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52360" y="1719072"/>
            <a:ext cx="109728" cy="10241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177393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</a:rPr>
              <a:t>Year 1 (M12)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35240" y="21396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50 restaurants   ₹4.8L MRR   ₹57.6L ARR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52360" y="2862072"/>
            <a:ext cx="4343400" cy="1024128"/>
          </a:xfrm>
          <a:prstGeom prst="rect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52360" y="2862072"/>
            <a:ext cx="109728" cy="10241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7635240" y="291693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Year 2 (M24)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32826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200 restaurants   ₹24L MRR   ₹2.88Cr ARR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452360" y="4005072"/>
            <a:ext cx="4343400" cy="1024128"/>
          </a:xfrm>
          <a:prstGeom prst="rect">
            <a:avLst/>
          </a:prstGeom>
          <a:solidFill>
            <a:srgbClr val="10B981">
              <a:alpha val="1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52360" y="4005072"/>
            <a:ext cx="109728" cy="102412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4"/>
          <p:cNvSpPr/>
          <p:nvPr/>
        </p:nvSpPr>
        <p:spPr>
          <a:xfrm>
            <a:off x="7635240" y="4059936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Year 3 (M36)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35240" y="4425696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600 restaurants   ₹80L MRR   ₹9.6Cr ARR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" y="5285232"/>
            <a:ext cx="11430000" cy="14447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53583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Key Assumptions: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5760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Avg Revenue/Restaurant: 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468880" y="5760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₹2,400/mo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297680" y="5760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Monthly Churn: 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263640" y="5760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2%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92440" y="5760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CAC: 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058400" y="57607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₹3,500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02920" y="6172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LTV:CAC: 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2468880" y="6172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15:1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297680" y="61722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Gross Margin: 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263640" y="6172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82%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Use of Funds — ₹2 Crore Seed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18872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1234440"/>
            <a:ext cx="301752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1234440"/>
            <a:ext cx="3017520" cy="475488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5669280" y="12893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</a:rPr>
              <a:t>40% — ₹80L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Product &amp; Engineering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0" y="2075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2 full-stack engineers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0" y="23225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Mobile app (React Native)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669280" y="2569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AI/ML features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8823960" y="1234440"/>
            <a:ext cx="301752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823960" y="1234440"/>
            <a:ext cx="3017520" cy="475488"/>
          </a:xfrm>
          <a:prstGeom prst="rect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915400" y="128930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30% — ₹60L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915400" y="17647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Sales &amp; Marketing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15400" y="207568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Restaurant sales team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915400" y="23225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Digital marketing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915400" y="256946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Industry events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577840" y="3017520"/>
            <a:ext cx="301752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3017520"/>
            <a:ext cx="3017520" cy="475488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5669280" y="30723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15% — ₹30L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66928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Operations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66928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Support team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69280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Hardware kits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669280" y="4352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Training programs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823960" y="3017520"/>
            <a:ext cx="301752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8823960" y="3017520"/>
            <a:ext cx="3017520" cy="475488"/>
          </a:xfrm>
          <a:prstGeom prst="rect">
            <a:avLst/>
          </a:prstGeom>
          <a:solidFill>
            <a:srgbClr val="F97316">
              <a:alpha val="8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8915400" y="307238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</a:rPr>
              <a:t>10% — ₹20L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915400" y="35478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Working Capital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915400" y="385876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18-month runway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915400" y="410565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Infrastructure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8915400" y="43525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Contingency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178040" y="4800600"/>
            <a:ext cx="3017520" cy="1600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178040" y="4800600"/>
            <a:ext cx="3017520" cy="475488"/>
          </a:xfrm>
          <a:prstGeom prst="rect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7269480" y="48554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</a:rPr>
              <a:t>5% — ₹10L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69480" y="533095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Legal &amp; Compliance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7269480" y="564184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Company setup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7269480" y="588873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IP protection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7269480" y="613562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• Data privacy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274320" y="5559552"/>
            <a:ext cx="11612880" cy="62179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8"/>
          <p:cNvSpPr/>
          <p:nvPr/>
        </p:nvSpPr>
        <p:spPr>
          <a:xfrm>
            <a:off x="457200" y="5559552"/>
            <a:ext cx="11247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Goal: 200 paying restaurants by Month 18  ·  ARR ₹2.88Cr by Year 2  ·  Series A by Month 24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Go-to-Market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11430000" cy="16276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80160"/>
            <a:ext cx="2240280" cy="1627632"/>
          </a:xfrm>
          <a:prstGeom prst="rect">
            <a:avLst/>
          </a:prstGeom>
          <a:solidFill>
            <a:srgbClr val="7C3AED">
              <a:alpha val="8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Phase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Months 1-6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24912" y="13716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Local Market Penetration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24912" y="19019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Target Chennai &amp; Tamil Nadu first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24912" y="23774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Direct outreach to 500 restaurants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73568" y="190195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Free tier for network effect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973568" y="23774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2-person sales + 1 CS rep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11430000" cy="16276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63240"/>
            <a:ext cx="2240280" cy="1627632"/>
          </a:xfrm>
          <a:prstGeom prst="rect">
            <a:avLst/>
          </a:prstGeom>
          <a:solidFill>
            <a:srgbClr val="3B82F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15468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Phase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Months 7-12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24912" y="315468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South India Expansion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24912" y="36850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Expand to Bengaluru, Hyderabad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24912" y="41605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Restaurant association tie-ups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973568" y="368503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Referral: ₹500 per restaurant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73568" y="416052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PR: food-tech press coverage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4846320"/>
            <a:ext cx="11430000" cy="16276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4846320"/>
            <a:ext cx="2240280" cy="1627632"/>
          </a:xfrm>
          <a:prstGeom prst="rect">
            <a:avLst/>
          </a:prstGeom>
          <a:solidFill>
            <a:srgbClr val="10B981">
              <a:alpha val="8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937760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Phase 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54406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Months 13-24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24912" y="493776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National Scale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24912" y="54681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Pan-India: top 10 cities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24912" y="59436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Enterprise sales for hotel chains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973568" y="546811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Franchise &amp; cloud kitchen vertical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73568" y="594360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✓  Series A with expanded GTM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6583680"/>
            <a:ext cx="11430000" cy="182880"/>
          </a:xfrm>
          <a:prstGeom prst="rect">
            <a:avLst/>
          </a:prstGeom>
          <a:solidFill>
            <a:srgbClr val="7C3AED">
              <a:alpha val="60000"/>
            </a:srgbClr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1A2C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Product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115568"/>
            <a:ext cx="2788920" cy="658368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3385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Q3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Now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2788920" cy="4956048"/>
          </a:xfrm>
          <a:prstGeom prst="rect">
            <a:avLst/>
          </a:prstGeom>
          <a:solidFill>
            <a:srgbClr val="1E2D3D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993392"/>
            <a:ext cx="365760" cy="365760"/>
          </a:xfrm>
          <a:prstGeom prst="ellipse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199339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www.zappy.ind.in live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65760" cy="365760"/>
          </a:xfrm>
          <a:prstGeom prst="ellipse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24128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First 10 paying clients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224528"/>
            <a:ext cx="365760" cy="365760"/>
          </a:xfrm>
          <a:prstGeom prst="ellipse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24128" y="4224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Razorpay integration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340096"/>
            <a:ext cx="365760" cy="365760"/>
          </a:xfrm>
          <a:prstGeom prst="ellipse">
            <a:avLst/>
          </a:prstGeom>
          <a:solidFill>
            <a:srgbClr val="FACC15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CC15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24128" y="53400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PWA mobile optimization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337560" y="1115568"/>
            <a:ext cx="278892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3337560" y="113385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Q4 2026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6 months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37560" y="1810512"/>
            <a:ext cx="2788920" cy="4956048"/>
          </a:xfrm>
          <a:prstGeom prst="rect">
            <a:avLst/>
          </a:prstGeom>
          <a:solidFill>
            <a:srgbClr val="1E2D3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1993392"/>
            <a:ext cx="365760" cy="3657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5204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95928" y="199339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React Native mobile app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520440" y="3108960"/>
            <a:ext cx="365760" cy="3657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35204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95928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Multi-language support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520440" y="4224528"/>
            <a:ext cx="365760" cy="3657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5204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95928" y="4224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Inventory auto-reorder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520440" y="5340096"/>
            <a:ext cx="365760" cy="365760"/>
          </a:xfrm>
          <a:prstGeom prst="ellipse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5204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995928" y="53400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Loyalty points system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09360" y="1115568"/>
            <a:ext cx="2788920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7" name="Text 35"/>
          <p:cNvSpPr/>
          <p:nvPr/>
        </p:nvSpPr>
        <p:spPr>
          <a:xfrm>
            <a:off x="6309360" y="113385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Q1 2027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9 months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1810512"/>
            <a:ext cx="2788920" cy="4956048"/>
          </a:xfrm>
          <a:prstGeom prst="rect">
            <a:avLst/>
          </a:prstGeom>
          <a:solidFill>
            <a:srgbClr val="1E2D3D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1993392"/>
            <a:ext cx="365760" cy="36576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967728" y="199339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QR hardware kits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92240" y="3108960"/>
            <a:ext cx="365760" cy="36576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67728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Franchise console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92240" y="4224528"/>
            <a:ext cx="365760" cy="36576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4922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3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67728" y="4224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ML recommendations v2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492240" y="5340096"/>
            <a:ext cx="365760" cy="365760"/>
          </a:xfrm>
          <a:prstGeom prst="ellipse">
            <a:avLst/>
          </a:prstGeom>
          <a:solidFill>
            <a:srgbClr val="3B82F6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67728" y="53400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Hotel chain white-label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281160" y="1115568"/>
            <a:ext cx="2788920" cy="6583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9281160" y="1133856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Q2 2027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9281160" y="1463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D1B2A"/>
                </a:solidFill>
              </a:rPr>
              <a:t>12 months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281160" y="1810512"/>
            <a:ext cx="2788920" cy="4956048"/>
          </a:xfrm>
          <a:prstGeom prst="rect">
            <a:avLst/>
          </a:prstGeom>
          <a:solidFill>
            <a:srgbClr val="1E2D3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464040" y="1993392"/>
            <a:ext cx="365760" cy="36576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9464040" y="19933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1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939528" y="1993392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Series A fundraise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464040" y="3108960"/>
            <a:ext cx="365760" cy="36576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94640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9939528" y="3108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Swiggy/Zomato integration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464040" y="4224528"/>
            <a:ext cx="365760" cy="36576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9464040" y="4224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3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9939528" y="422452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Offline mode support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464040" y="5340096"/>
            <a:ext cx="365760" cy="365760"/>
          </a:xfrm>
          <a:prstGeom prst="ellipse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9464040" y="5340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4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9939528" y="534009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500 restaurants target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Team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people building India's smartest restaurant 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92808"/>
            <a:ext cx="1234440" cy="123444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9280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12344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92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CEO &amp; Co-Founder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938528" y="1828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[Founder Name]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38528" y="23500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[e.g., 5 years building SaaS products. Shipped Zappy end-to-end. Product &amp; business strategy.]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38528" y="31729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Focus: Product strategy, investor relations, GTM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69164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0" y="1892808"/>
            <a:ext cx="1234440" cy="123444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89280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6400800" y="1892808"/>
            <a:ext cx="12344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189280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CTO &amp; Co-Founder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790688" y="182880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[Tech Founder]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90688" y="235000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[e.g., Full-stack engineer. Built the React + Supabase architecture from ground up in 6 months.]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790688" y="317296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Focus: Architecture, AI/ML, engineering team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1480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315968"/>
            <a:ext cx="1234440" cy="123444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31596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24" name="Shape 22"/>
          <p:cNvSpPr/>
          <p:nvPr/>
        </p:nvSpPr>
        <p:spPr>
          <a:xfrm>
            <a:off x="548640" y="4315968"/>
            <a:ext cx="12344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315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Head of Sales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938528" y="4251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[Sales Lead]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938528" y="477316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[e.g., 8+ years restaurant industry. Onboarded 100+ outlets at previous company. POS expert.]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938528" y="55961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Focus: Restaurant partnerships, enterprise deals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4114800"/>
            <a:ext cx="553212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0" y="4315968"/>
            <a:ext cx="1234440" cy="1234440"/>
          </a:xfrm>
          <a:prstGeom prst="ellipse">
            <a:avLst/>
          </a:prstGeom>
          <a:solidFill>
            <a:srgbClr val="7C3AED">
              <a:alpha val="80000"/>
            </a:srgbClr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315968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000000"/>
                </a:solidFill>
              </a:rPr>
              <a:t>👤</a:t>
            </a:r>
            <a:endParaRPr lang="en-US" sz="3800" dirty="0"/>
          </a:p>
        </p:txBody>
      </p:sp>
      <p:sp>
        <p:nvSpPr>
          <p:cNvPr id="32" name="Shape 30"/>
          <p:cNvSpPr/>
          <p:nvPr/>
        </p:nvSpPr>
        <p:spPr>
          <a:xfrm>
            <a:off x="6400800" y="4315968"/>
            <a:ext cx="1234440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31596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Advisor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790688" y="425196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[Industry Expert]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90688" y="4773168"/>
            <a:ext cx="3794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[e.g., Ex-VP Petpooja. Deep restaurant-tech domain expertise. Investor network access.]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790688" y="559612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Focus: Product strategy, investor introductions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19672"/>
            <a:ext cx="11247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Hiring: Backend Engineer  ·  Sales Executive  ·  Growth Marketer  —  zappyscan@gmail.com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682496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340864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999232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657600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315968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74336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632704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07808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8924544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582912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241280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899648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558016" y="18288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65760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24128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682496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340864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999232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315968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974336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632704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6291072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0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607808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266176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924544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9582912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241280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899648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1558016" y="93268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5760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1024128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682496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2340864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999232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657600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315968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74336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632704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91072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949440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07808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266176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924544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82912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0241280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0899648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1558016" y="168249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365760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24128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682496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340864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999232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3657600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4315968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4974336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5632704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291072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6949440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7607808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266176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924544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582912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241280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899648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1558016" y="243230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365760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024128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682496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340864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2999232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3657600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4315968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4974336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5632704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6291072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6949440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607808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8266176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8924544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9582912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0241280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0899648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11558016" y="3182112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65760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1024128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1682496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2340864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2999232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3657600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4315968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4974336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5632704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6291072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2" name="Shape 100"/>
          <p:cNvSpPr/>
          <p:nvPr/>
        </p:nvSpPr>
        <p:spPr>
          <a:xfrm>
            <a:off x="6949440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3" name="Shape 101"/>
          <p:cNvSpPr/>
          <p:nvPr/>
        </p:nvSpPr>
        <p:spPr>
          <a:xfrm>
            <a:off x="7607808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8266176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8924544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9582912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7" name="Shape 105"/>
          <p:cNvSpPr/>
          <p:nvPr/>
        </p:nvSpPr>
        <p:spPr>
          <a:xfrm>
            <a:off x="10241280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8" name="Shape 106"/>
          <p:cNvSpPr/>
          <p:nvPr/>
        </p:nvSpPr>
        <p:spPr>
          <a:xfrm>
            <a:off x="10899648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9" name="Shape 107"/>
          <p:cNvSpPr/>
          <p:nvPr/>
        </p:nvSpPr>
        <p:spPr>
          <a:xfrm>
            <a:off x="11558016" y="3931920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0" name="Shape 108"/>
          <p:cNvSpPr/>
          <p:nvPr/>
        </p:nvSpPr>
        <p:spPr>
          <a:xfrm>
            <a:off x="365760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1" name="Shape 109"/>
          <p:cNvSpPr/>
          <p:nvPr/>
        </p:nvSpPr>
        <p:spPr>
          <a:xfrm>
            <a:off x="1024128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2" name="Shape 110"/>
          <p:cNvSpPr/>
          <p:nvPr/>
        </p:nvSpPr>
        <p:spPr>
          <a:xfrm>
            <a:off x="1682496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3" name="Shape 111"/>
          <p:cNvSpPr/>
          <p:nvPr/>
        </p:nvSpPr>
        <p:spPr>
          <a:xfrm>
            <a:off x="2340864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4" name="Shape 112"/>
          <p:cNvSpPr/>
          <p:nvPr/>
        </p:nvSpPr>
        <p:spPr>
          <a:xfrm>
            <a:off x="2999232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5" name="Shape 113"/>
          <p:cNvSpPr/>
          <p:nvPr/>
        </p:nvSpPr>
        <p:spPr>
          <a:xfrm>
            <a:off x="3657600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6" name="Shape 114"/>
          <p:cNvSpPr/>
          <p:nvPr/>
        </p:nvSpPr>
        <p:spPr>
          <a:xfrm>
            <a:off x="4315968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7" name="Shape 115"/>
          <p:cNvSpPr/>
          <p:nvPr/>
        </p:nvSpPr>
        <p:spPr>
          <a:xfrm>
            <a:off x="4974336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8" name="Shape 116"/>
          <p:cNvSpPr/>
          <p:nvPr/>
        </p:nvSpPr>
        <p:spPr>
          <a:xfrm>
            <a:off x="5632704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9" name="Shape 117"/>
          <p:cNvSpPr/>
          <p:nvPr/>
        </p:nvSpPr>
        <p:spPr>
          <a:xfrm>
            <a:off x="6291072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0" name="Shape 118"/>
          <p:cNvSpPr/>
          <p:nvPr/>
        </p:nvSpPr>
        <p:spPr>
          <a:xfrm>
            <a:off x="6949440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1" name="Shape 119"/>
          <p:cNvSpPr/>
          <p:nvPr/>
        </p:nvSpPr>
        <p:spPr>
          <a:xfrm>
            <a:off x="7607808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2" name="Shape 120"/>
          <p:cNvSpPr/>
          <p:nvPr/>
        </p:nvSpPr>
        <p:spPr>
          <a:xfrm>
            <a:off x="8266176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3" name="Shape 121"/>
          <p:cNvSpPr/>
          <p:nvPr/>
        </p:nvSpPr>
        <p:spPr>
          <a:xfrm>
            <a:off x="8924544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4" name="Shape 122"/>
          <p:cNvSpPr/>
          <p:nvPr/>
        </p:nvSpPr>
        <p:spPr>
          <a:xfrm>
            <a:off x="9582912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5" name="Shape 123"/>
          <p:cNvSpPr/>
          <p:nvPr/>
        </p:nvSpPr>
        <p:spPr>
          <a:xfrm>
            <a:off x="10241280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6" name="Shape 124"/>
          <p:cNvSpPr/>
          <p:nvPr/>
        </p:nvSpPr>
        <p:spPr>
          <a:xfrm>
            <a:off x="10899648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7" name="Shape 125"/>
          <p:cNvSpPr/>
          <p:nvPr/>
        </p:nvSpPr>
        <p:spPr>
          <a:xfrm>
            <a:off x="11558016" y="4681728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8" name="Shape 126"/>
          <p:cNvSpPr/>
          <p:nvPr/>
        </p:nvSpPr>
        <p:spPr>
          <a:xfrm>
            <a:off x="365760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4128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0" name="Shape 128"/>
          <p:cNvSpPr/>
          <p:nvPr/>
        </p:nvSpPr>
        <p:spPr>
          <a:xfrm>
            <a:off x="1682496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1" name="Shape 129"/>
          <p:cNvSpPr/>
          <p:nvPr/>
        </p:nvSpPr>
        <p:spPr>
          <a:xfrm>
            <a:off x="2340864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2" name="Shape 130"/>
          <p:cNvSpPr/>
          <p:nvPr/>
        </p:nvSpPr>
        <p:spPr>
          <a:xfrm>
            <a:off x="2999232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3" name="Shape 131"/>
          <p:cNvSpPr/>
          <p:nvPr/>
        </p:nvSpPr>
        <p:spPr>
          <a:xfrm>
            <a:off x="3657600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4" name="Shape 132"/>
          <p:cNvSpPr/>
          <p:nvPr/>
        </p:nvSpPr>
        <p:spPr>
          <a:xfrm>
            <a:off x="4315968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5" name="Shape 133"/>
          <p:cNvSpPr/>
          <p:nvPr/>
        </p:nvSpPr>
        <p:spPr>
          <a:xfrm>
            <a:off x="4974336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6" name="Shape 134"/>
          <p:cNvSpPr/>
          <p:nvPr/>
        </p:nvSpPr>
        <p:spPr>
          <a:xfrm>
            <a:off x="5632704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6291072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8" name="Shape 136"/>
          <p:cNvSpPr/>
          <p:nvPr/>
        </p:nvSpPr>
        <p:spPr>
          <a:xfrm>
            <a:off x="6949440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9" name="Shape 137"/>
          <p:cNvSpPr/>
          <p:nvPr/>
        </p:nvSpPr>
        <p:spPr>
          <a:xfrm>
            <a:off x="7607808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0" name="Shape 138"/>
          <p:cNvSpPr/>
          <p:nvPr/>
        </p:nvSpPr>
        <p:spPr>
          <a:xfrm>
            <a:off x="8266176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1" name="Shape 139"/>
          <p:cNvSpPr/>
          <p:nvPr/>
        </p:nvSpPr>
        <p:spPr>
          <a:xfrm>
            <a:off x="8924544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2" name="Shape 140"/>
          <p:cNvSpPr/>
          <p:nvPr/>
        </p:nvSpPr>
        <p:spPr>
          <a:xfrm>
            <a:off x="9582912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3" name="Shape 141"/>
          <p:cNvSpPr/>
          <p:nvPr/>
        </p:nvSpPr>
        <p:spPr>
          <a:xfrm>
            <a:off x="10241280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4" name="Shape 142"/>
          <p:cNvSpPr/>
          <p:nvPr/>
        </p:nvSpPr>
        <p:spPr>
          <a:xfrm>
            <a:off x="10899648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5" name="Shape 143"/>
          <p:cNvSpPr/>
          <p:nvPr/>
        </p:nvSpPr>
        <p:spPr>
          <a:xfrm>
            <a:off x="11558016" y="5431536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6" name="Shape 144"/>
          <p:cNvSpPr/>
          <p:nvPr/>
        </p:nvSpPr>
        <p:spPr>
          <a:xfrm>
            <a:off x="365760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7" name="Shape 145"/>
          <p:cNvSpPr/>
          <p:nvPr/>
        </p:nvSpPr>
        <p:spPr>
          <a:xfrm>
            <a:off x="1024128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8" name="Shape 146"/>
          <p:cNvSpPr/>
          <p:nvPr/>
        </p:nvSpPr>
        <p:spPr>
          <a:xfrm>
            <a:off x="1682496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9" name="Shape 147"/>
          <p:cNvSpPr/>
          <p:nvPr/>
        </p:nvSpPr>
        <p:spPr>
          <a:xfrm>
            <a:off x="2340864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0" name="Shape 148"/>
          <p:cNvSpPr/>
          <p:nvPr/>
        </p:nvSpPr>
        <p:spPr>
          <a:xfrm>
            <a:off x="2999232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1" name="Shape 149"/>
          <p:cNvSpPr/>
          <p:nvPr/>
        </p:nvSpPr>
        <p:spPr>
          <a:xfrm>
            <a:off x="3657600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2" name="Shape 150"/>
          <p:cNvSpPr/>
          <p:nvPr/>
        </p:nvSpPr>
        <p:spPr>
          <a:xfrm>
            <a:off x="4315968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3" name="Shape 151"/>
          <p:cNvSpPr/>
          <p:nvPr/>
        </p:nvSpPr>
        <p:spPr>
          <a:xfrm>
            <a:off x="4974336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4" name="Shape 152"/>
          <p:cNvSpPr/>
          <p:nvPr/>
        </p:nvSpPr>
        <p:spPr>
          <a:xfrm>
            <a:off x="5632704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5" name="Shape 153"/>
          <p:cNvSpPr/>
          <p:nvPr/>
        </p:nvSpPr>
        <p:spPr>
          <a:xfrm>
            <a:off x="6291072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6" name="Shape 154"/>
          <p:cNvSpPr/>
          <p:nvPr/>
        </p:nvSpPr>
        <p:spPr>
          <a:xfrm>
            <a:off x="6949440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7" name="Shape 155"/>
          <p:cNvSpPr/>
          <p:nvPr/>
        </p:nvSpPr>
        <p:spPr>
          <a:xfrm>
            <a:off x="7607808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8" name="Shape 156"/>
          <p:cNvSpPr/>
          <p:nvPr/>
        </p:nvSpPr>
        <p:spPr>
          <a:xfrm>
            <a:off x="8266176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59" name="Shape 157"/>
          <p:cNvSpPr/>
          <p:nvPr/>
        </p:nvSpPr>
        <p:spPr>
          <a:xfrm>
            <a:off x="8924544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0" name="Shape 158"/>
          <p:cNvSpPr/>
          <p:nvPr/>
        </p:nvSpPr>
        <p:spPr>
          <a:xfrm>
            <a:off x="9582912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1" name="Shape 159"/>
          <p:cNvSpPr/>
          <p:nvPr/>
        </p:nvSpPr>
        <p:spPr>
          <a:xfrm>
            <a:off x="10241280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2" name="Shape 160"/>
          <p:cNvSpPr/>
          <p:nvPr/>
        </p:nvSpPr>
        <p:spPr>
          <a:xfrm>
            <a:off x="10899648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3" name="Shape 161"/>
          <p:cNvSpPr/>
          <p:nvPr/>
        </p:nvSpPr>
        <p:spPr>
          <a:xfrm>
            <a:off x="11558016" y="6181344"/>
            <a:ext cx="64008" cy="6400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4" name="Shape 16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5" name="Text 163"/>
          <p:cNvSpPr/>
          <p:nvPr/>
        </p:nvSpPr>
        <p:spPr>
          <a:xfrm>
            <a:off x="914400" y="9601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78BFA"/>
                </a:solidFill>
              </a:rPr>
              <a:t>We Are Raising</a:t>
            </a:r>
            <a:endParaRPr lang="en-US" sz="2000" dirty="0"/>
          </a:p>
        </p:txBody>
      </p:sp>
      <p:sp>
        <p:nvSpPr>
          <p:cNvPr id="166" name="Text 164"/>
          <p:cNvSpPr/>
          <p:nvPr/>
        </p:nvSpPr>
        <p:spPr>
          <a:xfrm>
            <a:off x="914400" y="1572768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ACC15"/>
                </a:solidFill>
              </a:rPr>
              <a:t>₹2 Crore</a:t>
            </a:r>
            <a:endParaRPr lang="en-US" sz="7800" dirty="0"/>
          </a:p>
        </p:txBody>
      </p:sp>
      <p:sp>
        <p:nvSpPr>
          <p:cNvPr id="167" name="Text 165"/>
          <p:cNvSpPr/>
          <p:nvPr/>
        </p:nvSpPr>
        <p:spPr>
          <a:xfrm>
            <a:off x="914400" y="294436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Seed Round  ·  June 2026  ·  Zappy Restaurant OS</a:t>
            </a:r>
            <a:endParaRPr lang="en-US" sz="1800" dirty="0"/>
          </a:p>
        </p:txBody>
      </p:sp>
      <p:sp>
        <p:nvSpPr>
          <p:cNvPr id="168" name="Shape 166"/>
          <p:cNvSpPr/>
          <p:nvPr/>
        </p:nvSpPr>
        <p:spPr>
          <a:xfrm>
            <a:off x="914400" y="3566160"/>
            <a:ext cx="1024128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9" name="Text 167"/>
          <p:cNvSpPr/>
          <p:nvPr/>
        </p:nvSpPr>
        <p:spPr>
          <a:xfrm>
            <a:off x="914400" y="382219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Use of Funds:</a:t>
            </a:r>
            <a:endParaRPr lang="en-US" sz="1200" dirty="0"/>
          </a:p>
        </p:txBody>
      </p:sp>
      <p:sp>
        <p:nvSpPr>
          <p:cNvPr id="170" name="Text 168"/>
          <p:cNvSpPr/>
          <p:nvPr/>
        </p:nvSpPr>
        <p:spPr>
          <a:xfrm>
            <a:off x="3566160" y="3822192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Engineering 40% · Sales 30% · Operations 15% · Working Capital 10% · Legal 5%</a:t>
            </a:r>
            <a:endParaRPr lang="en-US" sz="1200" dirty="0"/>
          </a:p>
        </p:txBody>
      </p:sp>
      <p:sp>
        <p:nvSpPr>
          <p:cNvPr id="171" name="Text 169"/>
          <p:cNvSpPr/>
          <p:nvPr/>
        </p:nvSpPr>
        <p:spPr>
          <a:xfrm>
            <a:off x="914400" y="4498848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18-Month Target:</a:t>
            </a:r>
            <a:endParaRPr lang="en-US" sz="1200" dirty="0"/>
          </a:p>
        </p:txBody>
      </p:sp>
      <p:sp>
        <p:nvSpPr>
          <p:cNvPr id="172" name="Text 170"/>
          <p:cNvSpPr/>
          <p:nvPr/>
        </p:nvSpPr>
        <p:spPr>
          <a:xfrm>
            <a:off x="3566160" y="4498848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200 paying restaurants · ₹2.88Cr ARR · Series A ready</a:t>
            </a:r>
            <a:endParaRPr lang="en-US" sz="1200" dirty="0"/>
          </a:p>
        </p:txBody>
      </p:sp>
      <p:sp>
        <p:nvSpPr>
          <p:cNvPr id="173" name="Text 171"/>
          <p:cNvSpPr/>
          <p:nvPr/>
        </p:nvSpPr>
        <p:spPr>
          <a:xfrm>
            <a:off x="914400" y="51755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Equity Offered:</a:t>
            </a:r>
            <a:endParaRPr lang="en-US" sz="1200" dirty="0"/>
          </a:p>
        </p:txBody>
      </p:sp>
      <p:sp>
        <p:nvSpPr>
          <p:cNvPr id="174" name="Text 172"/>
          <p:cNvSpPr/>
          <p:nvPr/>
        </p:nvSpPr>
        <p:spPr>
          <a:xfrm>
            <a:off x="3566160" y="5175504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10-15% (negotiable based on strategic value add from investor)</a:t>
            </a:r>
            <a:endParaRPr lang="en-US" sz="1200" dirty="0"/>
          </a:p>
        </p:txBody>
      </p:sp>
      <p:sp>
        <p:nvSpPr>
          <p:cNvPr id="175" name="Text 173"/>
          <p:cNvSpPr/>
          <p:nvPr/>
        </p:nvSpPr>
        <p:spPr>
          <a:xfrm>
            <a:off x="914400" y="5852160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Series A Plan:</a:t>
            </a:r>
            <a:endParaRPr lang="en-US" sz="1200" dirty="0"/>
          </a:p>
        </p:txBody>
      </p:sp>
      <p:sp>
        <p:nvSpPr>
          <p:cNvPr id="176" name="Text 174"/>
          <p:cNvSpPr/>
          <p:nvPr/>
        </p:nvSpPr>
        <p:spPr>
          <a:xfrm>
            <a:off x="3566160" y="5852160"/>
            <a:ext cx="7498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₹15-25 Crore at Month 24 based on ₹80L MRR run-rate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ACC1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133856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993392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712464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31536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91072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150608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010144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869680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9729216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588752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48288" y="2743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33856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93392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852928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12464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572000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5431536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91072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150608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010144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869680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729216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0588752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1448288" y="12344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133856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993392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852928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712464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431536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291072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150608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10144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869680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729216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0588752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11448288" y="219456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1133856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1993392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852928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3712464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4572000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431536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291072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150608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10144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69680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729216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588752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448288" y="315468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74320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1133856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993392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2852928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712464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4572000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5431536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6291072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7150608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010144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869680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729216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10588752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11448288" y="411480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274320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1133856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993392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2852928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3712464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572000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5431536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291072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7150608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8010144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8869680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9729216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10588752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11448288" y="507492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274320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1133856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1993392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2852928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3712464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4572000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5431536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6291072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7150608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8010144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8869680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729216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0" name="Shape 98"/>
          <p:cNvSpPr/>
          <p:nvPr/>
        </p:nvSpPr>
        <p:spPr>
          <a:xfrm>
            <a:off x="10588752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1" name="Shape 99"/>
          <p:cNvSpPr/>
          <p:nvPr/>
        </p:nvSpPr>
        <p:spPr>
          <a:xfrm>
            <a:off x="11448288" y="6035040"/>
            <a:ext cx="64008" cy="64008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2" name="Text 100"/>
          <p:cNvSpPr/>
          <p:nvPr/>
        </p:nvSpPr>
        <p:spPr>
          <a:xfrm>
            <a:off x="1188720" y="822960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FFFFF"/>
                </a:solidFill>
              </a:rPr>
              <a:t>ZA</a:t>
            </a:r>
            <a:endParaRPr lang="en-US" sz="8200" dirty="0"/>
          </a:p>
        </p:txBody>
      </p:sp>
      <p:sp>
        <p:nvSpPr>
          <p:cNvPr id="103" name="Text 101"/>
          <p:cNvSpPr/>
          <p:nvPr/>
        </p:nvSpPr>
        <p:spPr>
          <a:xfrm>
            <a:off x="3749040" y="82296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00" b="1" dirty="0">
                <a:solidFill>
                  <a:srgbClr val="FACC15"/>
                </a:solidFill>
              </a:rPr>
              <a:t>PPY</a:t>
            </a:r>
            <a:endParaRPr lang="en-US" sz="8200" dirty="0"/>
          </a:p>
        </p:txBody>
      </p:sp>
      <p:sp>
        <p:nvSpPr>
          <p:cNvPr id="104" name="Text 102"/>
          <p:cNvSpPr/>
          <p:nvPr/>
        </p:nvSpPr>
        <p:spPr>
          <a:xfrm>
            <a:off x="914400" y="23317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spc="200" kern="0" dirty="0">
                <a:solidFill>
                  <a:srgbClr val="A78BFA"/>
                </a:solidFill>
              </a:rPr>
              <a:t>scan. order. eat. repeat.</a:t>
            </a: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2743200" y="2999232"/>
            <a:ext cx="66751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6" name="Text 104"/>
          <p:cNvSpPr/>
          <p:nvPr/>
        </p:nvSpPr>
        <p:spPr>
          <a:xfrm>
            <a:off x="914400" y="3246120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Thank You for Your Time</a:t>
            </a:r>
            <a:endParaRPr lang="en-US" sz="2600" dirty="0"/>
          </a:p>
        </p:txBody>
      </p:sp>
      <p:sp>
        <p:nvSpPr>
          <p:cNvPr id="107" name="Shape 105"/>
          <p:cNvSpPr/>
          <p:nvPr/>
        </p:nvSpPr>
        <p:spPr>
          <a:xfrm>
            <a:off x="777240" y="4096512"/>
            <a:ext cx="352044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8" name="Text 106"/>
          <p:cNvSpPr/>
          <p:nvPr/>
        </p:nvSpPr>
        <p:spPr>
          <a:xfrm>
            <a:off x="777240" y="41422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</a:rPr>
              <a:t>🌐 Live Product</a:t>
            </a:r>
            <a:endParaRPr lang="en-US" sz="1150" dirty="0"/>
          </a:p>
        </p:txBody>
      </p:sp>
      <p:sp>
        <p:nvSpPr>
          <p:cNvPr id="109" name="Text 107"/>
          <p:cNvSpPr/>
          <p:nvPr/>
        </p:nvSpPr>
        <p:spPr>
          <a:xfrm>
            <a:off x="777240" y="4480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zappy-blond.vercel.app</a:t>
            </a:r>
            <a:endParaRPr lang="en-US" sz="1150" dirty="0"/>
          </a:p>
        </p:txBody>
      </p:sp>
      <p:sp>
        <p:nvSpPr>
          <p:cNvPr id="110" name="Shape 108"/>
          <p:cNvSpPr/>
          <p:nvPr/>
        </p:nvSpPr>
        <p:spPr>
          <a:xfrm>
            <a:off x="4572000" y="4096512"/>
            <a:ext cx="352044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4572000" y="41422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</a:rPr>
              <a:t>📧 Email</a:t>
            </a:r>
            <a:endParaRPr lang="en-US" sz="1150" dirty="0"/>
          </a:p>
        </p:txBody>
      </p:sp>
      <p:sp>
        <p:nvSpPr>
          <p:cNvPr id="112" name="Text 110"/>
          <p:cNvSpPr/>
          <p:nvPr/>
        </p:nvSpPr>
        <p:spPr>
          <a:xfrm>
            <a:off x="4572000" y="4480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zappyscan@gmail.com</a:t>
            </a:r>
            <a:endParaRPr lang="en-US" sz="1150" dirty="0"/>
          </a:p>
        </p:txBody>
      </p:sp>
      <p:sp>
        <p:nvSpPr>
          <p:cNvPr id="113" name="Shape 111"/>
          <p:cNvSpPr/>
          <p:nvPr/>
        </p:nvSpPr>
        <p:spPr>
          <a:xfrm>
            <a:off x="8366760" y="4096512"/>
            <a:ext cx="3520440" cy="868680"/>
          </a:xfrm>
          <a:prstGeom prst="rect">
            <a:avLst/>
          </a:prstGeom>
          <a:solidFill>
            <a:srgbClr val="1E2D3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8366760" y="414223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78BFA"/>
                </a:solidFill>
              </a:rPr>
              <a:t>🏙 Location</a:t>
            </a:r>
            <a:endParaRPr lang="en-US" sz="1150" dirty="0"/>
          </a:p>
        </p:txBody>
      </p:sp>
      <p:sp>
        <p:nvSpPr>
          <p:cNvPr id="115" name="Text 113"/>
          <p:cNvSpPr/>
          <p:nvPr/>
        </p:nvSpPr>
        <p:spPr>
          <a:xfrm>
            <a:off x="8366760" y="44805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Chennai, Tamil Nadu, India</a:t>
            </a:r>
            <a:endParaRPr lang="en-US" sz="1150" dirty="0"/>
          </a:p>
        </p:txBody>
      </p:sp>
      <p:sp>
        <p:nvSpPr>
          <p:cNvPr id="116" name="Text 114"/>
          <p:cNvSpPr/>
          <p:nvPr/>
        </p:nvSpPr>
        <p:spPr>
          <a:xfrm>
            <a:off x="914400" y="5230368"/>
            <a:ext cx="103327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</a:rPr>
              <a:t>We are building the future of restaurant operations in India.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C4DE"/>
                </a:solidFill>
              </a:rPr>
              <a:t>Join us in making every dining experience seamless, smart, and profitable.</a:t>
            </a:r>
            <a:endParaRPr lang="en-US" sz="1300" dirty="0"/>
          </a:p>
        </p:txBody>
      </p:sp>
      <p:sp>
        <p:nvSpPr>
          <p:cNvPr id="117" name="Shape 115"/>
          <p:cNvSpPr/>
          <p:nvPr/>
        </p:nvSpPr>
        <p:spPr>
          <a:xfrm>
            <a:off x="3794760" y="6263640"/>
            <a:ext cx="4572000" cy="530352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8" name="Text 116"/>
          <p:cNvSpPr/>
          <p:nvPr/>
        </p:nvSpPr>
        <p:spPr>
          <a:xfrm>
            <a:off x="3794760" y="6263640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Book a Demo  →  zappy-blond.vercel.app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Zappy - Investor Pitch Deck 2026</dc:title>
  <dc:subject>PptxGenJS Presentation</dc:subject>
  <dc:creator>PptxGenJS</dc:creator>
  <cp:lastModifiedBy>PptxGenJS</cp:lastModifiedBy>
  <cp:revision>1</cp:revision>
  <dcterms:created xsi:type="dcterms:W3CDTF">2026-06-21T07:49:45Z</dcterms:created>
  <dcterms:modified xsi:type="dcterms:W3CDTF">2026-06-21T07:49:45Z</dcterms:modified>
</cp:coreProperties>
</file>